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Cagliostro" charset="1" panose="02000000000000000000"/>
      <p:regular r:id="rId10"/>
    </p:embeddedFont>
    <p:embeddedFont>
      <p:font typeface="Cinzel Decorative" charset="1" panose="00000500000000000000"/>
      <p:regular r:id="rId11"/>
    </p:embeddedFont>
    <p:embeddedFont>
      <p:font typeface="Cinzel Decorative Bold" charset="1" panose="00000800000000000000"/>
      <p:regular r:id="rId12"/>
    </p:embeddedFont>
    <p:embeddedFont>
      <p:font typeface="Canva Sans" charset="1" panose="020B0503030501040103"/>
      <p:regular r:id="rId13"/>
    </p:embeddedFont>
    <p:embeddedFont>
      <p:font typeface="Canva Sans Bold" charset="1" panose="020B0803030501040103"/>
      <p:regular r:id="rId14"/>
    </p:embeddedFont>
    <p:embeddedFont>
      <p:font typeface="Canva Sans Italics" charset="1" panose="020B0503030501040103"/>
      <p:regular r:id="rId15"/>
    </p:embeddedFont>
    <p:embeddedFont>
      <p:font typeface="Canva Sans Bold Italics" charset="1" panose="020B0803030501040103"/>
      <p:regular r:id="rId16"/>
    </p:embeddedFont>
    <p:embeddedFont>
      <p:font typeface="Canva Sans Medium" charset="1" panose="020B0603030501040103"/>
      <p:regular r:id="rId17"/>
    </p:embeddedFont>
    <p:embeddedFont>
      <p:font typeface="Canva Sans Medium Italics" charset="1" panose="020B06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slides/slide1.xml" Type="http://schemas.openxmlformats.org/officeDocument/2006/relationships/slide"/><Relationship Id="rId2" Target="presProps.xml" Type="http://schemas.openxmlformats.org/officeDocument/2006/relationships/presProps"/><Relationship Id="rId20" Target="slides/slide2.xml" Type="http://schemas.openxmlformats.org/officeDocument/2006/relationships/slide"/><Relationship Id="rId21" Target="slides/slide3.xml" Type="http://schemas.openxmlformats.org/officeDocument/2006/relationships/slide"/><Relationship Id="rId22" Target="slides/slide4.xml" Type="http://schemas.openxmlformats.org/officeDocument/2006/relationships/slide"/><Relationship Id="rId23" Target="slides/slide5.xml" Type="http://schemas.openxmlformats.org/officeDocument/2006/relationships/slide"/><Relationship Id="rId24" Target="slides/slide6.xml" Type="http://schemas.openxmlformats.org/officeDocument/2006/relationships/slide"/><Relationship Id="rId25" Target="slides/slide7.xml" Type="http://schemas.openxmlformats.org/officeDocument/2006/relationships/slide"/><Relationship Id="rId26" Target="slides/slide8.xml" Type="http://schemas.openxmlformats.org/officeDocument/2006/relationships/slide"/><Relationship Id="rId27" Target="slides/slide9.xml" Type="http://schemas.openxmlformats.org/officeDocument/2006/relationships/slide"/><Relationship Id="rId28" Target="slides/slide10.xml" Type="http://schemas.openxmlformats.org/officeDocument/2006/relationships/slide"/><Relationship Id="rId29" Target="slides/slide11.xml" Type="http://schemas.openxmlformats.org/officeDocument/2006/relationships/slide"/><Relationship Id="rId3" Target="viewProps.xml" Type="http://schemas.openxmlformats.org/officeDocument/2006/relationships/viewProps"/><Relationship Id="rId30" Target="slides/slide12.xml" Type="http://schemas.openxmlformats.org/officeDocument/2006/relationships/slide"/><Relationship Id="rId31" Target="slides/slide13.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https://drive.google.com/file/d/1fBs9SPZQWg8WOVuFBAr_FHC1T_-qykbI/view?usp=sharing" TargetMode="External" Type="http://schemas.openxmlformats.org/officeDocument/2006/relationships/hyperlink"/><Relationship Id="rId7" Target="https://drive.google.com/file/d/1t5t_1RJ5sWXpBY9PfJta7Lf_Sdaunedq/view?usp=sharing" TargetMode="External" Type="http://schemas.openxmlformats.org/officeDocument/2006/relationships/hyperlink"/><Relationship Id="rId8" Target="https://drive.google.com/file/d/1lj4PXTZ5DlPyIe17s--LyaX2L8NSl7jG/view?usp=sharing" TargetMode="External" Type="http://schemas.openxmlformats.org/officeDocument/2006/relationships/hyperlink"/><Relationship Id="rId9" Target="https://drive.google.com/file/d/1kRIGSVXQFN1AqLqsN2q0FKVbUfGuejpV/view?usp=sharing" TargetMode="External" Type="http://schemas.openxmlformats.org/officeDocument/2006/relationships/hyperlink"/></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44689">
            <a:off x="-1942" y="741361"/>
            <a:ext cx="2380000" cy="4936162"/>
          </a:xfrm>
          <a:custGeom>
            <a:avLst/>
            <a:gdLst/>
            <a:ahLst/>
            <a:cxnLst/>
            <a:rect r="r" b="b" t="t" l="l"/>
            <a:pathLst>
              <a:path h="4936162" w="2380000">
                <a:moveTo>
                  <a:pt x="0" y="0"/>
                </a:moveTo>
                <a:lnTo>
                  <a:pt x="2379999" y="0"/>
                </a:lnTo>
                <a:lnTo>
                  <a:pt x="2379999" y="4936162"/>
                </a:lnTo>
                <a:lnTo>
                  <a:pt x="0" y="49361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488530">
            <a:off x="15838881" y="8034157"/>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1135818">
            <a:off x="16477957" y="5068371"/>
            <a:ext cx="2404829" cy="4987659"/>
          </a:xfrm>
          <a:custGeom>
            <a:avLst/>
            <a:gdLst/>
            <a:ahLst/>
            <a:cxnLst/>
            <a:rect r="r" b="b" t="t" l="l"/>
            <a:pathLst>
              <a:path h="4987659" w="2404829">
                <a:moveTo>
                  <a:pt x="2404829" y="0"/>
                </a:moveTo>
                <a:lnTo>
                  <a:pt x="0" y="0"/>
                </a:lnTo>
                <a:lnTo>
                  <a:pt x="0" y="4987659"/>
                </a:lnTo>
                <a:lnTo>
                  <a:pt x="2404829" y="4987659"/>
                </a:lnTo>
                <a:lnTo>
                  <a:pt x="240482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496816" y="1679991"/>
            <a:ext cx="11244887" cy="5499772"/>
          </a:xfrm>
          <a:custGeom>
            <a:avLst/>
            <a:gdLst/>
            <a:ahLst/>
            <a:cxnLst/>
            <a:rect r="r" b="b" t="t" l="l"/>
            <a:pathLst>
              <a:path h="5499772" w="11244887">
                <a:moveTo>
                  <a:pt x="0" y="0"/>
                </a:moveTo>
                <a:lnTo>
                  <a:pt x="11244887" y="0"/>
                </a:lnTo>
                <a:lnTo>
                  <a:pt x="11244887" y="5499772"/>
                </a:lnTo>
                <a:lnTo>
                  <a:pt x="0" y="54997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285550">
            <a:off x="13163977" y="1774619"/>
            <a:ext cx="2207272" cy="2086236"/>
          </a:xfrm>
          <a:custGeom>
            <a:avLst/>
            <a:gdLst/>
            <a:ahLst/>
            <a:cxnLst/>
            <a:rect r="r" b="b" t="t" l="l"/>
            <a:pathLst>
              <a:path h="2086236" w="2207272">
                <a:moveTo>
                  <a:pt x="0" y="0"/>
                </a:moveTo>
                <a:lnTo>
                  <a:pt x="2207272" y="0"/>
                </a:lnTo>
                <a:lnTo>
                  <a:pt x="2207272" y="2086236"/>
                </a:lnTo>
                <a:lnTo>
                  <a:pt x="0" y="2086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995646" y="2671673"/>
            <a:ext cx="10039067" cy="3491548"/>
          </a:xfrm>
          <a:prstGeom prst="rect">
            <a:avLst/>
          </a:prstGeom>
        </p:spPr>
        <p:txBody>
          <a:bodyPr anchor="t" rtlCol="false" tIns="0" lIns="0" bIns="0" rIns="0">
            <a:spAutoFit/>
          </a:bodyPr>
          <a:lstStyle/>
          <a:p>
            <a:pPr algn="ctr">
              <a:lnSpc>
                <a:spcPts val="9229"/>
              </a:lnSpc>
            </a:pPr>
            <a:r>
              <a:rPr lang="en-US" sz="7383" spc="214">
                <a:solidFill>
                  <a:srgbClr val="797A1D"/>
                </a:solidFill>
                <a:latin typeface="Cinzel Decorative Bold"/>
              </a:rPr>
              <a:t>SMART</a:t>
            </a:r>
          </a:p>
          <a:p>
            <a:pPr algn="ctr">
              <a:lnSpc>
                <a:spcPts val="9229"/>
              </a:lnSpc>
            </a:pPr>
            <a:r>
              <a:rPr lang="en-US" sz="7383" spc="214">
                <a:solidFill>
                  <a:srgbClr val="797A1D"/>
                </a:solidFill>
                <a:latin typeface="Cinzel Decorative Bold"/>
              </a:rPr>
              <a:t>INSURANCE</a:t>
            </a:r>
          </a:p>
          <a:p>
            <a:pPr algn="ctr">
              <a:lnSpc>
                <a:spcPts val="9229"/>
              </a:lnSpc>
            </a:pPr>
            <a:r>
              <a:rPr lang="en-US" sz="7383" spc="214">
                <a:solidFill>
                  <a:srgbClr val="797A1D"/>
                </a:solidFill>
                <a:latin typeface="Cinzel Decorative Bold"/>
              </a:rPr>
              <a:t>PROCESSING</a:t>
            </a:r>
          </a:p>
        </p:txBody>
      </p:sp>
      <p:sp>
        <p:nvSpPr>
          <p:cNvPr name="Freeform 9" id="9"/>
          <p:cNvSpPr/>
          <p:nvPr/>
        </p:nvSpPr>
        <p:spPr>
          <a:xfrm flipH="false" flipV="true" rot="5285550">
            <a:off x="2839980" y="5000604"/>
            <a:ext cx="2360814" cy="2231359"/>
          </a:xfrm>
          <a:custGeom>
            <a:avLst/>
            <a:gdLst/>
            <a:ahLst/>
            <a:cxnLst/>
            <a:rect r="r" b="b" t="t" l="l"/>
            <a:pathLst>
              <a:path h="2231359" w="2360814">
                <a:moveTo>
                  <a:pt x="0" y="2231359"/>
                </a:moveTo>
                <a:lnTo>
                  <a:pt x="2360813" y="2231359"/>
                </a:lnTo>
                <a:lnTo>
                  <a:pt x="2360813" y="0"/>
                </a:lnTo>
                <a:lnTo>
                  <a:pt x="0" y="0"/>
                </a:lnTo>
                <a:lnTo>
                  <a:pt x="0" y="2231359"/>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752737" y="7835550"/>
            <a:ext cx="8782526" cy="771525"/>
          </a:xfrm>
          <a:prstGeom prst="rect">
            <a:avLst/>
          </a:prstGeom>
        </p:spPr>
        <p:txBody>
          <a:bodyPr anchor="t" rtlCol="false" tIns="0" lIns="0" bIns="0" rIns="0">
            <a:spAutoFit/>
          </a:bodyPr>
          <a:lstStyle/>
          <a:p>
            <a:pPr algn="ctr">
              <a:lnSpc>
                <a:spcPts val="6299"/>
              </a:lnSpc>
            </a:pPr>
            <a:r>
              <a:rPr lang="en-US" sz="4500">
                <a:solidFill>
                  <a:srgbClr val="C4791C"/>
                </a:solidFill>
                <a:latin typeface="Cagliostro"/>
              </a:rPr>
              <a:t>Presented by Harishmitha S V</a:t>
            </a:r>
          </a:p>
        </p:txBody>
      </p:sp>
      <p:sp>
        <p:nvSpPr>
          <p:cNvPr name="Freeform 11" id="11"/>
          <p:cNvSpPr/>
          <p:nvPr/>
        </p:nvSpPr>
        <p:spPr>
          <a:xfrm flipH="false" flipV="true" rot="0">
            <a:off x="17061389" y="-1259031"/>
            <a:ext cx="5539640" cy="5669356"/>
          </a:xfrm>
          <a:custGeom>
            <a:avLst/>
            <a:gdLst/>
            <a:ahLst/>
            <a:cxnLst/>
            <a:rect r="r" b="b" t="t" l="l"/>
            <a:pathLst>
              <a:path h="5669356" w="5539640">
                <a:moveTo>
                  <a:pt x="0" y="5669356"/>
                </a:moveTo>
                <a:lnTo>
                  <a:pt x="5539640" y="5669356"/>
                </a:lnTo>
                <a:lnTo>
                  <a:pt x="5539640" y="0"/>
                </a:lnTo>
                <a:lnTo>
                  <a:pt x="0" y="0"/>
                </a:lnTo>
                <a:lnTo>
                  <a:pt x="0" y="5669356"/>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4140456" y="5710261"/>
            <a:ext cx="5539640" cy="5669356"/>
          </a:xfrm>
          <a:custGeom>
            <a:avLst/>
            <a:gdLst/>
            <a:ahLst/>
            <a:cxnLst/>
            <a:rect r="r" b="b" t="t" l="l"/>
            <a:pathLst>
              <a:path h="5669356" w="5539640">
                <a:moveTo>
                  <a:pt x="5539641" y="0"/>
                </a:moveTo>
                <a:lnTo>
                  <a:pt x="0" y="0"/>
                </a:lnTo>
                <a:lnTo>
                  <a:pt x="0" y="5669356"/>
                </a:lnTo>
                <a:lnTo>
                  <a:pt x="5539641" y="5669356"/>
                </a:lnTo>
                <a:lnTo>
                  <a:pt x="553964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305161" y="3498276"/>
            <a:ext cx="14204452" cy="5141122"/>
          </a:xfrm>
          <a:prstGeom prst="rect">
            <a:avLst/>
          </a:prstGeom>
        </p:spPr>
        <p:txBody>
          <a:bodyPr anchor="t" rtlCol="false" tIns="0" lIns="0" bIns="0" rIns="0">
            <a:spAutoFit/>
          </a:bodyPr>
          <a:lstStyle/>
          <a:p>
            <a:pPr algn="ctr">
              <a:lnSpc>
                <a:spcPts val="4519"/>
              </a:lnSpc>
            </a:pPr>
          </a:p>
          <a:p>
            <a:pPr algn="ctr">
              <a:lnSpc>
                <a:spcPts val="4519"/>
              </a:lnSpc>
            </a:pPr>
            <a:r>
              <a:rPr lang="en-US" sz="3228">
                <a:solidFill>
                  <a:srgbClr val="C4791C"/>
                </a:solidFill>
                <a:latin typeface="Cagliostro"/>
              </a:rPr>
              <a:t>Smart Insurance Processing, a cutting-edge collaboration between UiPath and OpenAI. Through advanced AI technology, we seamlessly extract personal details from certificates, streamlining insurance processes with unparalleled efficiency. With automated data storage in Excel, manual input becomes a thing of the past, ensuring accuracy and reliability. Our innovative solution transforms insurance form filling, empowering users with time-saving capabilities and enhancing overall productivity. Experience the future of insurance processing today with our revolutionary integration of UiPath and OpenAI.</a:t>
            </a:r>
          </a:p>
        </p:txBody>
      </p:sp>
      <p:sp>
        <p:nvSpPr>
          <p:cNvPr name="Freeform 5" id="5"/>
          <p:cNvSpPr/>
          <p:nvPr/>
        </p:nvSpPr>
        <p:spPr>
          <a:xfrm flipH="false" flipV="false" rot="0">
            <a:off x="159783" y="7446162"/>
            <a:ext cx="2675553" cy="2840838"/>
          </a:xfrm>
          <a:custGeom>
            <a:avLst/>
            <a:gdLst/>
            <a:ahLst/>
            <a:cxnLst/>
            <a:rect r="r" b="b" t="t" l="l"/>
            <a:pathLst>
              <a:path h="2840838" w="2675553">
                <a:moveTo>
                  <a:pt x="0" y="0"/>
                </a:moveTo>
                <a:lnTo>
                  <a:pt x="2675553" y="0"/>
                </a:lnTo>
                <a:lnTo>
                  <a:pt x="2675553" y="2840838"/>
                </a:lnTo>
                <a:lnTo>
                  <a:pt x="0" y="2840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737731" y="342449"/>
            <a:ext cx="2675553" cy="2550160"/>
          </a:xfrm>
          <a:custGeom>
            <a:avLst/>
            <a:gdLst/>
            <a:ahLst/>
            <a:cxnLst/>
            <a:rect r="r" b="b" t="t" l="l"/>
            <a:pathLst>
              <a:path h="2550160" w="2675553">
                <a:moveTo>
                  <a:pt x="2675553" y="0"/>
                </a:moveTo>
                <a:lnTo>
                  <a:pt x="0" y="0"/>
                </a:lnTo>
                <a:lnTo>
                  <a:pt x="0" y="2550159"/>
                </a:lnTo>
                <a:lnTo>
                  <a:pt x="2675553" y="2550159"/>
                </a:lnTo>
                <a:lnTo>
                  <a:pt x="2675553" y="0"/>
                </a:lnTo>
                <a:close/>
              </a:path>
            </a:pathLst>
          </a:custGeom>
          <a:blipFill>
            <a:blip r:embed="rId4">
              <a:extLst>
                <a:ext uri="{96DAC541-7B7A-43D3-8B79-37D633B846F1}">
                  <asvg:svgBlip xmlns:asvg="http://schemas.microsoft.com/office/drawing/2016/SVG/main" r:embed="rId5"/>
                </a:ext>
              </a:extLst>
            </a:blip>
            <a:stretch>
              <a:fillRect l="0" t="0" r="0" b="-11398"/>
            </a:stretch>
          </a:blipFill>
        </p:spPr>
      </p:sp>
      <p:sp>
        <p:nvSpPr>
          <p:cNvPr name="Freeform 7" id="7"/>
          <p:cNvSpPr/>
          <p:nvPr/>
        </p:nvSpPr>
        <p:spPr>
          <a:xfrm flipH="false" flipV="false" rot="403289">
            <a:off x="-651107" y="3478613"/>
            <a:ext cx="1678929" cy="3329775"/>
          </a:xfrm>
          <a:custGeom>
            <a:avLst/>
            <a:gdLst/>
            <a:ahLst/>
            <a:cxnLst/>
            <a:rect r="r" b="b" t="t" l="l"/>
            <a:pathLst>
              <a:path h="3329775" w="1678929">
                <a:moveTo>
                  <a:pt x="0" y="0"/>
                </a:moveTo>
                <a:lnTo>
                  <a:pt x="1678930" y="0"/>
                </a:lnTo>
                <a:lnTo>
                  <a:pt x="1678930" y="3329774"/>
                </a:lnTo>
                <a:lnTo>
                  <a:pt x="0" y="3329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94180">
            <a:off x="17224758" y="3478613"/>
            <a:ext cx="1678929" cy="3329775"/>
          </a:xfrm>
          <a:custGeom>
            <a:avLst/>
            <a:gdLst/>
            <a:ahLst/>
            <a:cxnLst/>
            <a:rect r="r" b="b" t="t" l="l"/>
            <a:pathLst>
              <a:path h="3329775" w="1678929">
                <a:moveTo>
                  <a:pt x="1678929" y="0"/>
                </a:moveTo>
                <a:lnTo>
                  <a:pt x="0" y="0"/>
                </a:lnTo>
                <a:lnTo>
                  <a:pt x="0" y="3329774"/>
                </a:lnTo>
                <a:lnTo>
                  <a:pt x="1678929" y="3329774"/>
                </a:lnTo>
                <a:lnTo>
                  <a:pt x="167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341457" y="1203406"/>
            <a:ext cx="11605086" cy="1956063"/>
            <a:chOff x="0" y="0"/>
            <a:chExt cx="3056484" cy="515177"/>
          </a:xfrm>
        </p:grpSpPr>
        <p:sp>
          <p:nvSpPr>
            <p:cNvPr name="Freeform 10" id="10"/>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11" id="11"/>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3899202" y="1610041"/>
            <a:ext cx="10489597" cy="1253993"/>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Introduction</a:t>
            </a:r>
          </a:p>
        </p:txBody>
      </p:sp>
      <p:sp>
        <p:nvSpPr>
          <p:cNvPr name="Freeform 14" id="14"/>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668291" y="3768981"/>
            <a:ext cx="13641067" cy="5324475"/>
          </a:xfrm>
          <a:prstGeom prst="rect">
            <a:avLst/>
          </a:prstGeom>
        </p:spPr>
        <p:txBody>
          <a:bodyPr anchor="t" rtlCol="false" tIns="0" lIns="0" bIns="0" rIns="0">
            <a:spAutoFit/>
          </a:bodyPr>
          <a:lstStyle/>
          <a:p>
            <a:pPr algn="ctr">
              <a:lnSpc>
                <a:spcPts val="4200"/>
              </a:lnSpc>
            </a:pPr>
            <a:r>
              <a:rPr lang="en-US" sz="3000">
                <a:solidFill>
                  <a:srgbClr val="C4791C"/>
                </a:solidFill>
                <a:latin typeface="Cagliostro"/>
              </a:rPr>
              <a:t>The current insurance processing system relies heavily on manual data entry, leading to inefficiencies and errors. Human operators manually extract personal details from certificates, introducing delays and inaccuracies. This process is time-consuming and prone to human error, resulting in inconsistencies in data entry. Additionally, the lack of automation increases the likelihood of data entry duplication and data loss. The absence of advanced AI technologies limits the system's ability to adapt to various certificate formats and languages. Moreover, the reliance on manual labor escalates operational costs and hampers scalability. Overall, the existing system struggles to meet the demands of modern insurance processing, necessitating a more efficient and automated solution.</a:t>
            </a:r>
          </a:p>
        </p:txBody>
      </p:sp>
      <p:sp>
        <p:nvSpPr>
          <p:cNvPr name="Freeform 5" id="5"/>
          <p:cNvSpPr/>
          <p:nvPr/>
        </p:nvSpPr>
        <p:spPr>
          <a:xfrm flipH="false" flipV="false" rot="0">
            <a:off x="159783" y="7446162"/>
            <a:ext cx="2675553" cy="2840838"/>
          </a:xfrm>
          <a:custGeom>
            <a:avLst/>
            <a:gdLst/>
            <a:ahLst/>
            <a:cxnLst/>
            <a:rect r="r" b="b" t="t" l="l"/>
            <a:pathLst>
              <a:path h="2840838" w="2675553">
                <a:moveTo>
                  <a:pt x="0" y="0"/>
                </a:moveTo>
                <a:lnTo>
                  <a:pt x="2675553" y="0"/>
                </a:lnTo>
                <a:lnTo>
                  <a:pt x="2675553" y="2840838"/>
                </a:lnTo>
                <a:lnTo>
                  <a:pt x="0" y="2840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737731" y="342449"/>
            <a:ext cx="2675553" cy="2550160"/>
          </a:xfrm>
          <a:custGeom>
            <a:avLst/>
            <a:gdLst/>
            <a:ahLst/>
            <a:cxnLst/>
            <a:rect r="r" b="b" t="t" l="l"/>
            <a:pathLst>
              <a:path h="2550160" w="2675553">
                <a:moveTo>
                  <a:pt x="2675553" y="0"/>
                </a:moveTo>
                <a:lnTo>
                  <a:pt x="0" y="0"/>
                </a:lnTo>
                <a:lnTo>
                  <a:pt x="0" y="2550159"/>
                </a:lnTo>
                <a:lnTo>
                  <a:pt x="2675553" y="2550159"/>
                </a:lnTo>
                <a:lnTo>
                  <a:pt x="2675553" y="0"/>
                </a:lnTo>
                <a:close/>
              </a:path>
            </a:pathLst>
          </a:custGeom>
          <a:blipFill>
            <a:blip r:embed="rId4">
              <a:extLst>
                <a:ext uri="{96DAC541-7B7A-43D3-8B79-37D633B846F1}">
                  <asvg:svgBlip xmlns:asvg="http://schemas.microsoft.com/office/drawing/2016/SVG/main" r:embed="rId5"/>
                </a:ext>
              </a:extLst>
            </a:blip>
            <a:stretch>
              <a:fillRect l="0" t="0" r="0" b="-11398"/>
            </a:stretch>
          </a:blipFill>
        </p:spPr>
      </p:sp>
      <p:sp>
        <p:nvSpPr>
          <p:cNvPr name="Freeform 7" id="7"/>
          <p:cNvSpPr/>
          <p:nvPr/>
        </p:nvSpPr>
        <p:spPr>
          <a:xfrm flipH="false" flipV="false" rot="403289">
            <a:off x="-651107" y="3478613"/>
            <a:ext cx="1678929" cy="3329775"/>
          </a:xfrm>
          <a:custGeom>
            <a:avLst/>
            <a:gdLst/>
            <a:ahLst/>
            <a:cxnLst/>
            <a:rect r="r" b="b" t="t" l="l"/>
            <a:pathLst>
              <a:path h="3329775" w="1678929">
                <a:moveTo>
                  <a:pt x="0" y="0"/>
                </a:moveTo>
                <a:lnTo>
                  <a:pt x="1678930" y="0"/>
                </a:lnTo>
                <a:lnTo>
                  <a:pt x="1678930" y="3329774"/>
                </a:lnTo>
                <a:lnTo>
                  <a:pt x="0" y="3329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94180">
            <a:off x="17224758" y="3478613"/>
            <a:ext cx="1678929" cy="3329775"/>
          </a:xfrm>
          <a:custGeom>
            <a:avLst/>
            <a:gdLst/>
            <a:ahLst/>
            <a:cxnLst/>
            <a:rect r="r" b="b" t="t" l="l"/>
            <a:pathLst>
              <a:path h="3329775" w="1678929">
                <a:moveTo>
                  <a:pt x="1678929" y="0"/>
                </a:moveTo>
                <a:lnTo>
                  <a:pt x="0" y="0"/>
                </a:lnTo>
                <a:lnTo>
                  <a:pt x="0" y="3329774"/>
                </a:lnTo>
                <a:lnTo>
                  <a:pt x="1678929" y="3329774"/>
                </a:lnTo>
                <a:lnTo>
                  <a:pt x="167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341457" y="1203406"/>
            <a:ext cx="11605086" cy="1956063"/>
            <a:chOff x="0" y="0"/>
            <a:chExt cx="3056484" cy="515177"/>
          </a:xfrm>
        </p:grpSpPr>
        <p:sp>
          <p:nvSpPr>
            <p:cNvPr name="Freeform 10" id="10"/>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11" id="11"/>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2432451" y="1638483"/>
            <a:ext cx="13177991"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EXISTING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497559" y="2486025"/>
            <a:ext cx="15347584" cy="2657475"/>
          </a:xfrm>
          <a:prstGeom prst="rect">
            <a:avLst/>
          </a:prstGeom>
        </p:spPr>
        <p:txBody>
          <a:bodyPr anchor="t" rtlCol="false" tIns="0" lIns="0" bIns="0" rIns="0">
            <a:spAutoFit/>
          </a:bodyPr>
          <a:lstStyle/>
          <a:p>
            <a:pPr algn="ctr">
              <a:lnSpc>
                <a:spcPts val="4200"/>
              </a:lnSpc>
            </a:pPr>
            <a:r>
              <a:rPr lang="en-US" sz="3000">
                <a:solidFill>
                  <a:srgbClr val="C4791C"/>
                </a:solidFill>
                <a:latin typeface="Cagliostro"/>
              </a:rPr>
              <a:t> Leveraging UiPath and OpenAI, our proposed system streamlines insurance processing by autonomously extracting personal details from certificates. This data is seamlessly transferred to an Excel sheet for organized storage. Subsequently, the insurance form is automatically populated with the extracted information, enhancing efficiency and accuracy in insurance processing workflows.</a:t>
            </a:r>
          </a:p>
        </p:txBody>
      </p:sp>
      <p:sp>
        <p:nvSpPr>
          <p:cNvPr name="Freeform 5" id="5"/>
          <p:cNvSpPr/>
          <p:nvPr/>
        </p:nvSpPr>
        <p:spPr>
          <a:xfrm flipH="false" flipV="false" rot="0">
            <a:off x="159783" y="7446162"/>
            <a:ext cx="2675553" cy="2840838"/>
          </a:xfrm>
          <a:custGeom>
            <a:avLst/>
            <a:gdLst/>
            <a:ahLst/>
            <a:cxnLst/>
            <a:rect r="r" b="b" t="t" l="l"/>
            <a:pathLst>
              <a:path h="2840838" w="2675553">
                <a:moveTo>
                  <a:pt x="0" y="0"/>
                </a:moveTo>
                <a:lnTo>
                  <a:pt x="2675553" y="0"/>
                </a:lnTo>
                <a:lnTo>
                  <a:pt x="2675553" y="2840838"/>
                </a:lnTo>
                <a:lnTo>
                  <a:pt x="0" y="2840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737731" y="342449"/>
            <a:ext cx="2675553" cy="2550160"/>
          </a:xfrm>
          <a:custGeom>
            <a:avLst/>
            <a:gdLst/>
            <a:ahLst/>
            <a:cxnLst/>
            <a:rect r="r" b="b" t="t" l="l"/>
            <a:pathLst>
              <a:path h="2550160" w="2675553">
                <a:moveTo>
                  <a:pt x="2675553" y="0"/>
                </a:moveTo>
                <a:lnTo>
                  <a:pt x="0" y="0"/>
                </a:lnTo>
                <a:lnTo>
                  <a:pt x="0" y="2550159"/>
                </a:lnTo>
                <a:lnTo>
                  <a:pt x="2675553" y="2550159"/>
                </a:lnTo>
                <a:lnTo>
                  <a:pt x="2675553" y="0"/>
                </a:lnTo>
                <a:close/>
              </a:path>
            </a:pathLst>
          </a:custGeom>
          <a:blipFill>
            <a:blip r:embed="rId4">
              <a:extLst>
                <a:ext uri="{96DAC541-7B7A-43D3-8B79-37D633B846F1}">
                  <asvg:svgBlip xmlns:asvg="http://schemas.microsoft.com/office/drawing/2016/SVG/main" r:embed="rId5"/>
                </a:ext>
              </a:extLst>
            </a:blip>
            <a:stretch>
              <a:fillRect l="0" t="0" r="0" b="-11398"/>
            </a:stretch>
          </a:blipFill>
        </p:spPr>
      </p:sp>
      <p:sp>
        <p:nvSpPr>
          <p:cNvPr name="Freeform 7" id="7"/>
          <p:cNvSpPr/>
          <p:nvPr/>
        </p:nvSpPr>
        <p:spPr>
          <a:xfrm flipH="false" flipV="false" rot="403289">
            <a:off x="-651107" y="3478613"/>
            <a:ext cx="1678929" cy="3329775"/>
          </a:xfrm>
          <a:custGeom>
            <a:avLst/>
            <a:gdLst/>
            <a:ahLst/>
            <a:cxnLst/>
            <a:rect r="r" b="b" t="t" l="l"/>
            <a:pathLst>
              <a:path h="3329775" w="1678929">
                <a:moveTo>
                  <a:pt x="0" y="0"/>
                </a:moveTo>
                <a:lnTo>
                  <a:pt x="1678930" y="0"/>
                </a:lnTo>
                <a:lnTo>
                  <a:pt x="1678930" y="3329774"/>
                </a:lnTo>
                <a:lnTo>
                  <a:pt x="0" y="3329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94180">
            <a:off x="17224758" y="3478613"/>
            <a:ext cx="1678929" cy="3329775"/>
          </a:xfrm>
          <a:custGeom>
            <a:avLst/>
            <a:gdLst/>
            <a:ahLst/>
            <a:cxnLst/>
            <a:rect r="r" b="b" t="t" l="l"/>
            <a:pathLst>
              <a:path h="3329775" w="1678929">
                <a:moveTo>
                  <a:pt x="1678929" y="0"/>
                </a:moveTo>
                <a:lnTo>
                  <a:pt x="0" y="0"/>
                </a:lnTo>
                <a:lnTo>
                  <a:pt x="0" y="3329774"/>
                </a:lnTo>
                <a:lnTo>
                  <a:pt x="1678929" y="3329774"/>
                </a:lnTo>
                <a:lnTo>
                  <a:pt x="167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341457" y="342449"/>
            <a:ext cx="11605086" cy="1477559"/>
            <a:chOff x="0" y="0"/>
            <a:chExt cx="3056484" cy="389151"/>
          </a:xfrm>
        </p:grpSpPr>
        <p:sp>
          <p:nvSpPr>
            <p:cNvPr name="Freeform 10" id="10"/>
            <p:cNvSpPr/>
            <p:nvPr/>
          </p:nvSpPr>
          <p:spPr>
            <a:xfrm flipH="false" flipV="false" rot="0">
              <a:off x="0" y="0"/>
              <a:ext cx="3056484" cy="389151"/>
            </a:xfrm>
            <a:custGeom>
              <a:avLst/>
              <a:gdLst/>
              <a:ahLst/>
              <a:cxnLst/>
              <a:rect r="r" b="b" t="t" l="l"/>
              <a:pathLst>
                <a:path h="389151" w="3056484">
                  <a:moveTo>
                    <a:pt x="2853284" y="0"/>
                  </a:moveTo>
                  <a:cubicBezTo>
                    <a:pt x="2965508" y="0"/>
                    <a:pt x="3056484" y="87114"/>
                    <a:pt x="3056484" y="194576"/>
                  </a:cubicBezTo>
                  <a:cubicBezTo>
                    <a:pt x="3056484" y="302037"/>
                    <a:pt x="2965508" y="389151"/>
                    <a:pt x="2853284" y="389151"/>
                  </a:cubicBezTo>
                  <a:lnTo>
                    <a:pt x="203200" y="389151"/>
                  </a:lnTo>
                  <a:cubicBezTo>
                    <a:pt x="90976" y="389151"/>
                    <a:pt x="0" y="302037"/>
                    <a:pt x="0" y="194576"/>
                  </a:cubicBezTo>
                  <a:cubicBezTo>
                    <a:pt x="0" y="87114"/>
                    <a:pt x="90976" y="0"/>
                    <a:pt x="203200" y="0"/>
                  </a:cubicBezTo>
                  <a:close/>
                </a:path>
              </a:pathLst>
            </a:custGeom>
            <a:solidFill>
              <a:srgbClr val="000000">
                <a:alpha val="0"/>
              </a:srgbClr>
            </a:solidFill>
            <a:ln w="47625" cap="sq">
              <a:solidFill>
                <a:srgbClr val="DEDD91"/>
              </a:solidFill>
              <a:prstDash val="solid"/>
              <a:miter/>
            </a:ln>
          </p:spPr>
        </p:sp>
        <p:sp>
          <p:nvSpPr>
            <p:cNvPr name="TextBox 11" id="11"/>
            <p:cNvSpPr txBox="true"/>
            <p:nvPr/>
          </p:nvSpPr>
          <p:spPr>
            <a:xfrm>
              <a:off x="0" y="-38100"/>
              <a:ext cx="3056484" cy="42725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2432451" y="435116"/>
            <a:ext cx="13177991"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PROPOSED SYSTEM</a:t>
            </a:r>
          </a:p>
        </p:txBody>
      </p:sp>
      <p:sp>
        <p:nvSpPr>
          <p:cNvPr name="Freeform 14" id="14"/>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2835336" y="5675706"/>
            <a:ext cx="13688337" cy="3190875"/>
          </a:xfrm>
          <a:prstGeom prst="rect">
            <a:avLst/>
          </a:prstGeom>
        </p:spPr>
        <p:txBody>
          <a:bodyPr anchor="t" rtlCol="false" tIns="0" lIns="0" bIns="0" rIns="0">
            <a:spAutoFit/>
          </a:bodyPr>
          <a:lstStyle/>
          <a:p>
            <a:pPr algn="ctr">
              <a:lnSpc>
                <a:spcPts val="4200"/>
              </a:lnSpc>
            </a:pPr>
            <a:r>
              <a:rPr lang="en-US" sz="3000">
                <a:solidFill>
                  <a:srgbClr val="C4791C"/>
                </a:solidFill>
                <a:latin typeface="Cagliostro"/>
              </a:rPr>
              <a:t>Moreover, our system incorporates advanced natural language processing capabilities from OpenAI to enhance data extraction accuracy and adaptability. By utilizing cutting-edge AI algorithms, the system intelligently parses various certificate formats, ensuring robust performance across diverse document types. This integration of UiPath's automation capabilities with OpenAI's language processing prowess empowers seamless, ultimately optimizing resource utilization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EDD91"/>
        </a:solidFill>
      </p:bgPr>
    </p:bg>
    <p:spTree>
      <p:nvGrpSpPr>
        <p:cNvPr id="1" name=""/>
        <p:cNvGrpSpPr/>
        <p:nvPr/>
      </p:nvGrpSpPr>
      <p:grpSpPr>
        <a:xfrm>
          <a:off x="0" y="0"/>
          <a:ext cx="0" cy="0"/>
          <a:chOff x="0" y="0"/>
          <a:chExt cx="0" cy="0"/>
        </a:xfrm>
      </p:grpSpPr>
      <p:sp>
        <p:nvSpPr>
          <p:cNvPr name="Freeform 2" id="2"/>
          <p:cNvSpPr/>
          <p:nvPr/>
        </p:nvSpPr>
        <p:spPr>
          <a:xfrm flipH="false" flipV="false" rot="0">
            <a:off x="14119504" y="661930"/>
            <a:ext cx="3295458" cy="8963140"/>
          </a:xfrm>
          <a:custGeom>
            <a:avLst/>
            <a:gdLst/>
            <a:ahLst/>
            <a:cxnLst/>
            <a:rect r="r" b="b" t="t" l="l"/>
            <a:pathLst>
              <a:path h="8963140" w="3295458">
                <a:moveTo>
                  <a:pt x="0" y="0"/>
                </a:moveTo>
                <a:lnTo>
                  <a:pt x="3295458" y="0"/>
                </a:lnTo>
                <a:lnTo>
                  <a:pt x="3295458" y="8963140"/>
                </a:lnTo>
                <a:lnTo>
                  <a:pt x="0" y="8963140"/>
                </a:lnTo>
                <a:lnTo>
                  <a:pt x="0" y="0"/>
                </a:lnTo>
                <a:close/>
              </a:path>
            </a:pathLst>
          </a:custGeom>
          <a:blipFill>
            <a:blip r:embed="rId2"/>
            <a:stretch>
              <a:fillRect l="-1574" t="0" r="0" b="0"/>
            </a:stretch>
          </a:blipFill>
        </p:spPr>
      </p:sp>
      <p:sp>
        <p:nvSpPr>
          <p:cNvPr name="TextBox 3" id="3"/>
          <p:cNvSpPr txBox="true"/>
          <p:nvPr/>
        </p:nvSpPr>
        <p:spPr>
          <a:xfrm rot="0">
            <a:off x="425315" y="1573848"/>
            <a:ext cx="13080695" cy="10840469"/>
          </a:xfrm>
          <a:prstGeom prst="rect">
            <a:avLst/>
          </a:prstGeom>
        </p:spPr>
        <p:txBody>
          <a:bodyPr anchor="t" rtlCol="false" tIns="0" lIns="0" bIns="0" rIns="0">
            <a:spAutoFit/>
          </a:bodyPr>
          <a:lstStyle/>
          <a:p>
            <a:pPr marL="881929" indent="-440965" lvl="1">
              <a:lnSpc>
                <a:spcPts val="5718"/>
              </a:lnSpc>
              <a:buFont typeface="Arial"/>
              <a:buChar char="•"/>
            </a:pPr>
            <a:r>
              <a:rPr lang="en-US" sz="4084">
                <a:solidFill>
                  <a:srgbClr val="797A1D"/>
                </a:solidFill>
                <a:latin typeface="Cagliostro"/>
              </a:rPr>
              <a:t>Data Extraction from Personal Certificates</a:t>
            </a:r>
          </a:p>
          <a:p>
            <a:pPr marL="881929" indent="-440965" lvl="1">
              <a:lnSpc>
                <a:spcPts val="5718"/>
              </a:lnSpc>
              <a:buFont typeface="Arial"/>
              <a:buChar char="•"/>
            </a:pPr>
            <a:r>
              <a:rPr lang="en-US" sz="4084">
                <a:solidFill>
                  <a:srgbClr val="797A1D"/>
                </a:solidFill>
                <a:latin typeface="Cagliostro"/>
              </a:rPr>
              <a:t>Automatic Filling of Insurance Forms</a:t>
            </a:r>
          </a:p>
          <a:p>
            <a:pPr marL="881929" indent="-440965" lvl="1">
              <a:lnSpc>
                <a:spcPts val="5718"/>
              </a:lnSpc>
              <a:buFont typeface="Arial"/>
              <a:buChar char="•"/>
            </a:pPr>
            <a:r>
              <a:rPr lang="en-US" sz="4084">
                <a:solidFill>
                  <a:srgbClr val="797A1D"/>
                </a:solidFill>
                <a:latin typeface="Cagliostro"/>
              </a:rPr>
              <a:t>Integration with OpenAI for Query Handling</a:t>
            </a:r>
          </a:p>
          <a:p>
            <a:pPr marL="881929" indent="-440965" lvl="1">
              <a:lnSpc>
                <a:spcPts val="5718"/>
              </a:lnSpc>
              <a:buFont typeface="Arial"/>
              <a:buChar char="•"/>
            </a:pPr>
            <a:r>
              <a:rPr lang="en-US" sz="4084">
                <a:solidFill>
                  <a:srgbClr val="797A1D"/>
                </a:solidFill>
                <a:latin typeface="Cagliostro"/>
              </a:rPr>
              <a:t>Response Delivery</a:t>
            </a:r>
          </a:p>
          <a:p>
            <a:pPr marL="881929" indent="-440965" lvl="1">
              <a:lnSpc>
                <a:spcPts val="5718"/>
              </a:lnSpc>
              <a:buFont typeface="Arial"/>
              <a:buChar char="•"/>
            </a:pPr>
            <a:r>
              <a:rPr lang="en-US" sz="4084">
                <a:solidFill>
                  <a:srgbClr val="797A1D"/>
                </a:solidFill>
                <a:latin typeface="Cagliostro"/>
              </a:rPr>
              <a:t>Feedback and Iteration</a:t>
            </a:r>
          </a:p>
          <a:p>
            <a:pPr marL="881929" indent="-440965" lvl="1">
              <a:lnSpc>
                <a:spcPts val="5718"/>
              </a:lnSpc>
              <a:buFont typeface="Arial"/>
              <a:buChar char="•"/>
            </a:pPr>
            <a:r>
              <a:rPr lang="en-US" sz="4084">
                <a:solidFill>
                  <a:srgbClr val="797A1D"/>
                </a:solidFill>
                <a:latin typeface="Cagliostro"/>
              </a:rPr>
              <a:t>Monitoring and Maintenance</a:t>
            </a:r>
          </a:p>
          <a:p>
            <a:pPr marL="881929" indent="-440965" lvl="1">
              <a:lnSpc>
                <a:spcPts val="5718"/>
              </a:lnSpc>
              <a:buFont typeface="Arial"/>
              <a:buChar char="•"/>
            </a:pPr>
            <a:r>
              <a:rPr lang="en-US" sz="4084">
                <a:solidFill>
                  <a:srgbClr val="797A1D"/>
                </a:solidFill>
                <a:latin typeface="Cagliostro"/>
              </a:rPr>
              <a:t>User Interaction and Input Collection</a:t>
            </a:r>
          </a:p>
          <a:p>
            <a:pPr marL="881929" indent="-440965" lvl="1">
              <a:lnSpc>
                <a:spcPts val="5718"/>
              </a:lnSpc>
              <a:buFont typeface="Arial"/>
              <a:buChar char="•"/>
            </a:pPr>
            <a:r>
              <a:rPr lang="en-US" sz="4084">
                <a:solidFill>
                  <a:srgbClr val="797A1D"/>
                </a:solidFill>
                <a:latin typeface="Cagliostro"/>
              </a:rPr>
              <a:t>Natural Language Understanding and Processing</a:t>
            </a:r>
          </a:p>
          <a:p>
            <a:pPr marL="881929" indent="-440965" lvl="1">
              <a:lnSpc>
                <a:spcPts val="5718"/>
              </a:lnSpc>
              <a:buFont typeface="Arial"/>
              <a:buChar char="•"/>
            </a:pPr>
            <a:r>
              <a:rPr lang="en-US" sz="4084">
                <a:solidFill>
                  <a:srgbClr val="797A1D"/>
                </a:solidFill>
                <a:latin typeface="Cagliostro"/>
              </a:rPr>
              <a:t>Mode Selection for Response Delivery</a:t>
            </a:r>
          </a:p>
          <a:p>
            <a:pPr marL="881929" indent="-440965" lvl="1">
              <a:lnSpc>
                <a:spcPts val="5718"/>
              </a:lnSpc>
              <a:buFont typeface="Arial"/>
              <a:buChar char="•"/>
            </a:pPr>
            <a:r>
              <a:rPr lang="en-US" sz="4084">
                <a:solidFill>
                  <a:srgbClr val="797A1D"/>
                </a:solidFill>
                <a:latin typeface="Cagliostro"/>
              </a:rPr>
              <a:t>Error Handling and Exception Management</a:t>
            </a:r>
          </a:p>
          <a:p>
            <a:pPr>
              <a:lnSpc>
                <a:spcPts val="5718"/>
              </a:lnSpc>
            </a:pPr>
          </a:p>
          <a:p>
            <a:pPr>
              <a:lnSpc>
                <a:spcPts val="5718"/>
              </a:lnSpc>
            </a:pPr>
          </a:p>
          <a:p>
            <a:pPr>
              <a:lnSpc>
                <a:spcPts val="5718"/>
              </a:lnSpc>
            </a:pPr>
          </a:p>
          <a:p>
            <a:pPr>
              <a:lnSpc>
                <a:spcPts val="5718"/>
              </a:lnSpc>
            </a:pPr>
          </a:p>
          <a:p>
            <a:pPr>
              <a:lnSpc>
                <a:spcPts val="5718"/>
              </a:lnSpc>
              <a:spcBef>
                <a:spcPct val="0"/>
              </a:spcBef>
            </a:pPr>
          </a:p>
        </p:txBody>
      </p:sp>
      <p:sp>
        <p:nvSpPr>
          <p:cNvPr name="TextBox 4" id="4"/>
          <p:cNvSpPr txBox="true"/>
          <p:nvPr/>
        </p:nvSpPr>
        <p:spPr>
          <a:xfrm rot="0">
            <a:off x="14020" y="-161925"/>
            <a:ext cx="13903285" cy="1434591"/>
          </a:xfrm>
          <a:prstGeom prst="rect">
            <a:avLst/>
          </a:prstGeom>
        </p:spPr>
        <p:txBody>
          <a:bodyPr anchor="t" rtlCol="false" tIns="0" lIns="0" bIns="0" rIns="0">
            <a:spAutoFit/>
          </a:bodyPr>
          <a:lstStyle/>
          <a:p>
            <a:pPr algn="ctr">
              <a:lnSpc>
                <a:spcPts val="11753"/>
              </a:lnSpc>
            </a:pPr>
            <a:r>
              <a:rPr lang="en-US" sz="8395" spc="243">
                <a:solidFill>
                  <a:srgbClr val="797A1D"/>
                </a:solidFill>
                <a:latin typeface="Cinzel Decorative Bold"/>
              </a:rPr>
              <a:t>FLOW OF THE PROJECT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257133" y="155495"/>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2060369" y="10000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339092" y="28926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54415" y="3889536"/>
            <a:ext cx="5400042" cy="6026955"/>
            <a:chOff x="0" y="0"/>
            <a:chExt cx="741051" cy="827083"/>
          </a:xfrm>
        </p:grpSpPr>
        <p:sp>
          <p:nvSpPr>
            <p:cNvPr name="Freeform 10" id="10"/>
            <p:cNvSpPr/>
            <p:nvPr/>
          </p:nvSpPr>
          <p:spPr>
            <a:xfrm flipH="false" flipV="false" rot="0">
              <a:off x="0" y="0"/>
              <a:ext cx="741051" cy="827083"/>
            </a:xfrm>
            <a:custGeom>
              <a:avLst/>
              <a:gdLst/>
              <a:ahLst/>
              <a:cxnLst/>
              <a:rect r="r" b="b" t="t" l="l"/>
              <a:pathLst>
                <a:path h="827083" w="741051">
                  <a:moveTo>
                    <a:pt x="65949" y="0"/>
                  </a:moveTo>
                  <a:lnTo>
                    <a:pt x="675102" y="0"/>
                  </a:lnTo>
                  <a:cubicBezTo>
                    <a:pt x="692593" y="0"/>
                    <a:pt x="709367" y="6948"/>
                    <a:pt x="721735" y="19316"/>
                  </a:cubicBezTo>
                  <a:cubicBezTo>
                    <a:pt x="734103" y="31684"/>
                    <a:pt x="741051" y="48458"/>
                    <a:pt x="741051" y="65949"/>
                  </a:cubicBezTo>
                  <a:lnTo>
                    <a:pt x="741051" y="761133"/>
                  </a:lnTo>
                  <a:cubicBezTo>
                    <a:pt x="741051" y="778624"/>
                    <a:pt x="734103" y="795399"/>
                    <a:pt x="721735" y="807767"/>
                  </a:cubicBezTo>
                  <a:cubicBezTo>
                    <a:pt x="709367" y="820134"/>
                    <a:pt x="692593" y="827083"/>
                    <a:pt x="675102" y="827083"/>
                  </a:cubicBezTo>
                  <a:lnTo>
                    <a:pt x="65949" y="827083"/>
                  </a:lnTo>
                  <a:cubicBezTo>
                    <a:pt x="48458" y="827083"/>
                    <a:pt x="31684" y="820134"/>
                    <a:pt x="19316" y="807767"/>
                  </a:cubicBezTo>
                  <a:cubicBezTo>
                    <a:pt x="6948" y="795399"/>
                    <a:pt x="0" y="778624"/>
                    <a:pt x="0" y="761133"/>
                  </a:cubicBezTo>
                  <a:lnTo>
                    <a:pt x="0" y="65949"/>
                  </a:lnTo>
                  <a:cubicBezTo>
                    <a:pt x="0" y="48458"/>
                    <a:pt x="6948" y="31684"/>
                    <a:pt x="19316" y="19316"/>
                  </a:cubicBezTo>
                  <a:cubicBezTo>
                    <a:pt x="31684" y="6948"/>
                    <a:pt x="48458" y="0"/>
                    <a:pt x="65949" y="0"/>
                  </a:cubicBezTo>
                  <a:close/>
                </a:path>
              </a:pathLst>
            </a:custGeom>
            <a:solidFill>
              <a:srgbClr val="DEDD91"/>
            </a:solidFill>
            <a:ln cap="rnd">
              <a:noFill/>
              <a:prstDash val="solid"/>
              <a:round/>
            </a:ln>
          </p:spPr>
        </p:sp>
        <p:sp>
          <p:nvSpPr>
            <p:cNvPr name="TextBox 11" id="11"/>
            <p:cNvSpPr txBox="true"/>
            <p:nvPr/>
          </p:nvSpPr>
          <p:spPr>
            <a:xfrm>
              <a:off x="0" y="-38100"/>
              <a:ext cx="741051" cy="86518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2292317" y="4072774"/>
            <a:ext cx="5519221" cy="6023470"/>
            <a:chOff x="0" y="0"/>
            <a:chExt cx="757406" cy="826604"/>
          </a:xfrm>
        </p:grpSpPr>
        <p:sp>
          <p:nvSpPr>
            <p:cNvPr name="Freeform 13" id="13"/>
            <p:cNvSpPr/>
            <p:nvPr/>
          </p:nvSpPr>
          <p:spPr>
            <a:xfrm flipH="false" flipV="false" rot="0">
              <a:off x="0" y="0"/>
              <a:ext cx="757406" cy="826604"/>
            </a:xfrm>
            <a:custGeom>
              <a:avLst/>
              <a:gdLst/>
              <a:ahLst/>
              <a:cxnLst/>
              <a:rect r="r" b="b" t="t" l="l"/>
              <a:pathLst>
                <a:path h="826604" w="757406">
                  <a:moveTo>
                    <a:pt x="64525" y="0"/>
                  </a:moveTo>
                  <a:lnTo>
                    <a:pt x="692881" y="0"/>
                  </a:lnTo>
                  <a:cubicBezTo>
                    <a:pt x="709994" y="0"/>
                    <a:pt x="726406" y="6798"/>
                    <a:pt x="738507" y="18899"/>
                  </a:cubicBezTo>
                  <a:cubicBezTo>
                    <a:pt x="750608" y="31000"/>
                    <a:pt x="757406" y="47412"/>
                    <a:pt x="757406" y="64525"/>
                  </a:cubicBezTo>
                  <a:lnTo>
                    <a:pt x="757406" y="762079"/>
                  </a:lnTo>
                  <a:cubicBezTo>
                    <a:pt x="757406" y="779192"/>
                    <a:pt x="750608" y="795605"/>
                    <a:pt x="738507" y="807705"/>
                  </a:cubicBezTo>
                  <a:cubicBezTo>
                    <a:pt x="726406" y="819806"/>
                    <a:pt x="709994" y="826604"/>
                    <a:pt x="692881" y="826604"/>
                  </a:cubicBezTo>
                  <a:lnTo>
                    <a:pt x="64525" y="826604"/>
                  </a:lnTo>
                  <a:cubicBezTo>
                    <a:pt x="47412" y="826604"/>
                    <a:pt x="31000" y="819806"/>
                    <a:pt x="18899" y="807705"/>
                  </a:cubicBezTo>
                  <a:cubicBezTo>
                    <a:pt x="6798" y="795605"/>
                    <a:pt x="0" y="779192"/>
                    <a:pt x="0" y="762079"/>
                  </a:cubicBezTo>
                  <a:lnTo>
                    <a:pt x="0" y="64525"/>
                  </a:lnTo>
                  <a:cubicBezTo>
                    <a:pt x="0" y="47412"/>
                    <a:pt x="6798" y="31000"/>
                    <a:pt x="18899" y="18899"/>
                  </a:cubicBezTo>
                  <a:cubicBezTo>
                    <a:pt x="31000" y="6798"/>
                    <a:pt x="47412" y="0"/>
                    <a:pt x="64525" y="0"/>
                  </a:cubicBezTo>
                  <a:close/>
                </a:path>
              </a:pathLst>
            </a:custGeom>
            <a:solidFill>
              <a:srgbClr val="DEDD91"/>
            </a:solidFill>
            <a:ln cap="rnd">
              <a:noFill/>
              <a:prstDash val="solid"/>
              <a:round/>
            </a:ln>
          </p:spPr>
        </p:sp>
        <p:sp>
          <p:nvSpPr>
            <p:cNvPr name="TextBox 14" id="14"/>
            <p:cNvSpPr txBox="true"/>
            <p:nvPr/>
          </p:nvSpPr>
          <p:spPr>
            <a:xfrm>
              <a:off x="0" y="-38100"/>
              <a:ext cx="757406" cy="86470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819873" y="2148036"/>
            <a:ext cx="5922878" cy="1489144"/>
            <a:chOff x="0" y="0"/>
            <a:chExt cx="812800" cy="204356"/>
          </a:xfrm>
        </p:grpSpPr>
        <p:sp>
          <p:nvSpPr>
            <p:cNvPr name="Freeform 16" id="16"/>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17" id="17"/>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95694" y="2257518"/>
            <a:ext cx="5922878" cy="1489144"/>
            <a:chOff x="0" y="0"/>
            <a:chExt cx="812800" cy="204356"/>
          </a:xfrm>
        </p:grpSpPr>
        <p:sp>
          <p:nvSpPr>
            <p:cNvPr name="Freeform 19" id="19"/>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0" id="20"/>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3435306"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4398323"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5178491" y="427648"/>
            <a:ext cx="2564259" cy="2464960"/>
          </a:xfrm>
          <a:custGeom>
            <a:avLst/>
            <a:gdLst/>
            <a:ahLst/>
            <a:cxnLst/>
            <a:rect r="r" b="b" t="t" l="l"/>
            <a:pathLst>
              <a:path h="2464960" w="2564259">
                <a:moveTo>
                  <a:pt x="0" y="0"/>
                </a:moveTo>
                <a:lnTo>
                  <a:pt x="2564259" y="0"/>
                </a:lnTo>
                <a:lnTo>
                  <a:pt x="2564259" y="2464960"/>
                </a:lnTo>
                <a:lnTo>
                  <a:pt x="0" y="24649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12292317" y="4504905"/>
            <a:ext cx="5333827" cy="4640638"/>
          </a:xfrm>
          <a:prstGeom prst="rect">
            <a:avLst/>
          </a:prstGeom>
        </p:spPr>
        <p:txBody>
          <a:bodyPr anchor="t" rtlCol="false" tIns="0" lIns="0" bIns="0" rIns="0">
            <a:spAutoFit/>
          </a:bodyPr>
          <a:lstStyle/>
          <a:p>
            <a:pPr algn="ctr">
              <a:lnSpc>
                <a:spcPts val="4616"/>
              </a:lnSpc>
            </a:pPr>
            <a:r>
              <a:rPr lang="en-US" sz="3297">
                <a:solidFill>
                  <a:srgbClr val="797A1D"/>
                </a:solidFill>
                <a:latin typeface="Cagliostro"/>
              </a:rPr>
              <a:t>The insurance form acts as the recipient of the extracted data, facilitating the seamless completion of insurance applications with minimal manual input, thereby streamlining the overall process.</a:t>
            </a:r>
          </a:p>
        </p:txBody>
      </p:sp>
      <p:sp>
        <p:nvSpPr>
          <p:cNvPr name="TextBox 25" id="25"/>
          <p:cNvSpPr txBox="true"/>
          <p:nvPr/>
        </p:nvSpPr>
        <p:spPr>
          <a:xfrm rot="0">
            <a:off x="501358" y="2718004"/>
            <a:ext cx="4906155" cy="520545"/>
          </a:xfrm>
          <a:prstGeom prst="rect">
            <a:avLst/>
          </a:prstGeom>
        </p:spPr>
        <p:txBody>
          <a:bodyPr anchor="t" rtlCol="false" tIns="0" lIns="0" bIns="0" rIns="0">
            <a:spAutoFit/>
          </a:bodyPr>
          <a:lstStyle/>
          <a:p>
            <a:pPr algn="ctr">
              <a:lnSpc>
                <a:spcPts val="4383"/>
              </a:lnSpc>
            </a:pPr>
            <a:r>
              <a:rPr lang="en-US" sz="3131">
                <a:solidFill>
                  <a:srgbClr val="FFFFF1"/>
                </a:solidFill>
                <a:latin typeface="Cagliostro"/>
              </a:rPr>
              <a:t>UIPATH STUDIO</a:t>
            </a:r>
          </a:p>
        </p:txBody>
      </p:sp>
      <p:sp>
        <p:nvSpPr>
          <p:cNvPr name="TextBox 26" id="26"/>
          <p:cNvSpPr txBox="true"/>
          <p:nvPr/>
        </p:nvSpPr>
        <p:spPr>
          <a:xfrm rot="0">
            <a:off x="11703267" y="2514783"/>
            <a:ext cx="5922878" cy="679450"/>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OPENAI</a:t>
            </a:r>
          </a:p>
        </p:txBody>
      </p:sp>
      <p:sp>
        <p:nvSpPr>
          <p:cNvPr name="TextBox 27" id="27"/>
          <p:cNvSpPr txBox="true"/>
          <p:nvPr/>
        </p:nvSpPr>
        <p:spPr>
          <a:xfrm rot="0">
            <a:off x="622123" y="4123976"/>
            <a:ext cx="4785390" cy="4855071"/>
          </a:xfrm>
          <a:prstGeom prst="rect">
            <a:avLst/>
          </a:prstGeom>
        </p:spPr>
        <p:txBody>
          <a:bodyPr anchor="t" rtlCol="false" tIns="0" lIns="0" bIns="0" rIns="0">
            <a:spAutoFit/>
          </a:bodyPr>
          <a:lstStyle/>
          <a:p>
            <a:pPr algn="ctr">
              <a:lnSpc>
                <a:spcPts val="4872"/>
              </a:lnSpc>
            </a:pPr>
            <a:r>
              <a:rPr lang="en-US" sz="3480">
                <a:solidFill>
                  <a:srgbClr val="797A1D"/>
                </a:solidFill>
                <a:latin typeface="Cagliostro"/>
              </a:rPr>
              <a:t>UiPath Studio automates the extraction of personal details from certificates and populates the insurance form, enhancing efficiency in data processing tasks.</a:t>
            </a:r>
          </a:p>
        </p:txBody>
      </p:sp>
      <p:grpSp>
        <p:nvGrpSpPr>
          <p:cNvPr name="Group 28" id="28"/>
          <p:cNvGrpSpPr/>
          <p:nvPr/>
        </p:nvGrpSpPr>
        <p:grpSpPr>
          <a:xfrm rot="0">
            <a:off x="6339092" y="4190651"/>
            <a:ext cx="5480780" cy="6096349"/>
            <a:chOff x="0" y="0"/>
            <a:chExt cx="752131" cy="836606"/>
          </a:xfrm>
        </p:grpSpPr>
        <p:sp>
          <p:nvSpPr>
            <p:cNvPr name="Freeform 29" id="29"/>
            <p:cNvSpPr/>
            <p:nvPr/>
          </p:nvSpPr>
          <p:spPr>
            <a:xfrm flipH="false" flipV="false" rot="0">
              <a:off x="0" y="0"/>
              <a:ext cx="752131" cy="836606"/>
            </a:xfrm>
            <a:custGeom>
              <a:avLst/>
              <a:gdLst/>
              <a:ahLst/>
              <a:cxnLst/>
              <a:rect r="r" b="b" t="t" l="l"/>
              <a:pathLst>
                <a:path h="836606" w="752131">
                  <a:moveTo>
                    <a:pt x="64978" y="0"/>
                  </a:moveTo>
                  <a:lnTo>
                    <a:pt x="687153" y="0"/>
                  </a:lnTo>
                  <a:cubicBezTo>
                    <a:pt x="723039" y="0"/>
                    <a:pt x="752131" y="29091"/>
                    <a:pt x="752131" y="64978"/>
                  </a:cubicBezTo>
                  <a:lnTo>
                    <a:pt x="752131" y="771628"/>
                  </a:lnTo>
                  <a:cubicBezTo>
                    <a:pt x="752131" y="807514"/>
                    <a:pt x="723039" y="836606"/>
                    <a:pt x="687153" y="836606"/>
                  </a:cubicBezTo>
                  <a:lnTo>
                    <a:pt x="64978" y="836606"/>
                  </a:lnTo>
                  <a:cubicBezTo>
                    <a:pt x="47745" y="836606"/>
                    <a:pt x="31217" y="829760"/>
                    <a:pt x="19032" y="817574"/>
                  </a:cubicBezTo>
                  <a:cubicBezTo>
                    <a:pt x="6846" y="805388"/>
                    <a:pt x="0" y="788861"/>
                    <a:pt x="0" y="771628"/>
                  </a:cubicBezTo>
                  <a:lnTo>
                    <a:pt x="0" y="64978"/>
                  </a:lnTo>
                  <a:cubicBezTo>
                    <a:pt x="0" y="47745"/>
                    <a:pt x="6846" y="31217"/>
                    <a:pt x="19032" y="19032"/>
                  </a:cubicBezTo>
                  <a:cubicBezTo>
                    <a:pt x="31217" y="6846"/>
                    <a:pt x="47745" y="0"/>
                    <a:pt x="64978" y="0"/>
                  </a:cubicBezTo>
                  <a:close/>
                </a:path>
              </a:pathLst>
            </a:custGeom>
            <a:solidFill>
              <a:srgbClr val="DEDD91"/>
            </a:solidFill>
            <a:ln cap="rnd">
              <a:noFill/>
              <a:prstDash val="solid"/>
              <a:round/>
            </a:ln>
          </p:spPr>
        </p:sp>
        <p:sp>
          <p:nvSpPr>
            <p:cNvPr name="TextBox 30" id="30"/>
            <p:cNvSpPr txBox="true"/>
            <p:nvPr/>
          </p:nvSpPr>
          <p:spPr>
            <a:xfrm>
              <a:off x="0" y="-38100"/>
              <a:ext cx="752131" cy="874706"/>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6339092" y="2225475"/>
            <a:ext cx="5364175" cy="1489144"/>
            <a:chOff x="0" y="0"/>
            <a:chExt cx="736129" cy="204356"/>
          </a:xfrm>
        </p:grpSpPr>
        <p:sp>
          <p:nvSpPr>
            <p:cNvPr name="Freeform 32" id="32"/>
            <p:cNvSpPr/>
            <p:nvPr/>
          </p:nvSpPr>
          <p:spPr>
            <a:xfrm flipH="false" flipV="false" rot="0">
              <a:off x="0" y="0"/>
              <a:ext cx="736129" cy="204356"/>
            </a:xfrm>
            <a:custGeom>
              <a:avLst/>
              <a:gdLst/>
              <a:ahLst/>
              <a:cxnLst/>
              <a:rect r="r" b="b" t="t" l="l"/>
              <a:pathLst>
                <a:path h="204356" w="736129">
                  <a:moveTo>
                    <a:pt x="53401" y="0"/>
                  </a:moveTo>
                  <a:lnTo>
                    <a:pt x="682728" y="0"/>
                  </a:lnTo>
                  <a:cubicBezTo>
                    <a:pt x="712221" y="0"/>
                    <a:pt x="736129" y="23908"/>
                    <a:pt x="736129" y="53401"/>
                  </a:cubicBezTo>
                  <a:lnTo>
                    <a:pt x="736129" y="150955"/>
                  </a:lnTo>
                  <a:cubicBezTo>
                    <a:pt x="736129" y="180448"/>
                    <a:pt x="712221" y="204356"/>
                    <a:pt x="682728" y="204356"/>
                  </a:cubicBezTo>
                  <a:lnTo>
                    <a:pt x="53401" y="204356"/>
                  </a:lnTo>
                  <a:cubicBezTo>
                    <a:pt x="23908" y="204356"/>
                    <a:pt x="0" y="180448"/>
                    <a:pt x="0" y="150955"/>
                  </a:cubicBezTo>
                  <a:lnTo>
                    <a:pt x="0" y="53401"/>
                  </a:lnTo>
                  <a:cubicBezTo>
                    <a:pt x="0" y="23908"/>
                    <a:pt x="23908" y="0"/>
                    <a:pt x="53401" y="0"/>
                  </a:cubicBezTo>
                  <a:close/>
                </a:path>
              </a:pathLst>
            </a:custGeom>
            <a:solidFill>
              <a:srgbClr val="797A1D"/>
            </a:solidFill>
            <a:ln cap="rnd">
              <a:noFill/>
              <a:prstDash val="solid"/>
              <a:round/>
            </a:ln>
          </p:spPr>
        </p:sp>
        <p:sp>
          <p:nvSpPr>
            <p:cNvPr name="TextBox 33" id="33"/>
            <p:cNvSpPr txBox="true"/>
            <p:nvPr/>
          </p:nvSpPr>
          <p:spPr>
            <a:xfrm>
              <a:off x="0" y="-38100"/>
              <a:ext cx="736129" cy="242456"/>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3819654" y="200796"/>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FRONTEND</a:t>
            </a:r>
          </a:p>
        </p:txBody>
      </p:sp>
      <p:sp>
        <p:nvSpPr>
          <p:cNvPr name="TextBox 35" id="35"/>
          <p:cNvSpPr txBox="true"/>
          <p:nvPr/>
        </p:nvSpPr>
        <p:spPr>
          <a:xfrm rot="0">
            <a:off x="6339092" y="2608523"/>
            <a:ext cx="4906155" cy="520545"/>
          </a:xfrm>
          <a:prstGeom prst="rect">
            <a:avLst/>
          </a:prstGeom>
        </p:spPr>
        <p:txBody>
          <a:bodyPr anchor="t" rtlCol="false" tIns="0" lIns="0" bIns="0" rIns="0">
            <a:spAutoFit/>
          </a:bodyPr>
          <a:lstStyle/>
          <a:p>
            <a:pPr algn="ctr">
              <a:lnSpc>
                <a:spcPts val="4383"/>
              </a:lnSpc>
            </a:pPr>
            <a:r>
              <a:rPr lang="en-US" sz="3131">
                <a:solidFill>
                  <a:srgbClr val="FFFFF1"/>
                </a:solidFill>
                <a:latin typeface="Cagliostro"/>
              </a:rPr>
              <a:t>EXCEL</a:t>
            </a:r>
          </a:p>
        </p:txBody>
      </p:sp>
      <p:sp>
        <p:nvSpPr>
          <p:cNvPr name="TextBox 36" id="36"/>
          <p:cNvSpPr txBox="true"/>
          <p:nvPr/>
        </p:nvSpPr>
        <p:spPr>
          <a:xfrm rot="0">
            <a:off x="6751305" y="4419468"/>
            <a:ext cx="4785390" cy="5014456"/>
          </a:xfrm>
          <a:prstGeom prst="rect">
            <a:avLst/>
          </a:prstGeom>
        </p:spPr>
        <p:txBody>
          <a:bodyPr anchor="t" rtlCol="false" tIns="0" lIns="0" bIns="0" rIns="0">
            <a:spAutoFit/>
          </a:bodyPr>
          <a:lstStyle/>
          <a:p>
            <a:pPr algn="ctr">
              <a:lnSpc>
                <a:spcPts val="5012"/>
              </a:lnSpc>
            </a:pPr>
            <a:r>
              <a:rPr lang="en-US" sz="3580">
                <a:solidFill>
                  <a:srgbClr val="797A1D"/>
                </a:solidFill>
                <a:latin typeface="Cagliostro"/>
              </a:rPr>
              <a:t>Excel serves as a centralized database for storing the extracted data, ensuring organized and accessible records for future reference in the insurance processing workflow.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257133" y="155495"/>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2060369" y="1000033"/>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339092" y="28926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2821179" y="3715002"/>
            <a:ext cx="6090873" cy="6026955"/>
            <a:chOff x="0" y="0"/>
            <a:chExt cx="835854" cy="827083"/>
          </a:xfrm>
        </p:grpSpPr>
        <p:sp>
          <p:nvSpPr>
            <p:cNvPr name="Freeform 10" id="10"/>
            <p:cNvSpPr/>
            <p:nvPr/>
          </p:nvSpPr>
          <p:spPr>
            <a:xfrm flipH="false" flipV="false" rot="0">
              <a:off x="0" y="0"/>
              <a:ext cx="835854" cy="827083"/>
            </a:xfrm>
            <a:custGeom>
              <a:avLst/>
              <a:gdLst/>
              <a:ahLst/>
              <a:cxnLst/>
              <a:rect r="r" b="b" t="t" l="l"/>
              <a:pathLst>
                <a:path h="827083" w="835854">
                  <a:moveTo>
                    <a:pt x="58469" y="0"/>
                  </a:moveTo>
                  <a:lnTo>
                    <a:pt x="777385" y="0"/>
                  </a:lnTo>
                  <a:cubicBezTo>
                    <a:pt x="809677" y="0"/>
                    <a:pt x="835854" y="26178"/>
                    <a:pt x="835854" y="58469"/>
                  </a:cubicBezTo>
                  <a:lnTo>
                    <a:pt x="835854" y="768614"/>
                  </a:lnTo>
                  <a:cubicBezTo>
                    <a:pt x="835854" y="800905"/>
                    <a:pt x="809677" y="827083"/>
                    <a:pt x="777385" y="827083"/>
                  </a:cubicBezTo>
                  <a:lnTo>
                    <a:pt x="58469" y="827083"/>
                  </a:lnTo>
                  <a:cubicBezTo>
                    <a:pt x="26178" y="827083"/>
                    <a:pt x="0" y="800905"/>
                    <a:pt x="0" y="768614"/>
                  </a:cubicBezTo>
                  <a:lnTo>
                    <a:pt x="0" y="58469"/>
                  </a:lnTo>
                  <a:cubicBezTo>
                    <a:pt x="0" y="26178"/>
                    <a:pt x="26178" y="0"/>
                    <a:pt x="58469" y="0"/>
                  </a:cubicBezTo>
                  <a:close/>
                </a:path>
              </a:pathLst>
            </a:custGeom>
            <a:solidFill>
              <a:srgbClr val="DEDD91"/>
            </a:solidFill>
            <a:ln cap="rnd">
              <a:noFill/>
              <a:prstDash val="solid"/>
              <a:round/>
            </a:ln>
          </p:spPr>
        </p:sp>
        <p:sp>
          <p:nvSpPr>
            <p:cNvPr name="TextBox 11" id="11"/>
            <p:cNvSpPr txBox="true"/>
            <p:nvPr/>
          </p:nvSpPr>
          <p:spPr>
            <a:xfrm>
              <a:off x="0" y="-38100"/>
              <a:ext cx="835854" cy="86518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330878" y="3482732"/>
            <a:ext cx="6060453" cy="6023470"/>
            <a:chOff x="0" y="0"/>
            <a:chExt cx="831680" cy="826604"/>
          </a:xfrm>
        </p:grpSpPr>
        <p:sp>
          <p:nvSpPr>
            <p:cNvPr name="Freeform 13" id="13"/>
            <p:cNvSpPr/>
            <p:nvPr/>
          </p:nvSpPr>
          <p:spPr>
            <a:xfrm flipH="false" flipV="false" rot="0">
              <a:off x="0" y="0"/>
              <a:ext cx="831680" cy="826604"/>
            </a:xfrm>
            <a:custGeom>
              <a:avLst/>
              <a:gdLst/>
              <a:ahLst/>
              <a:cxnLst/>
              <a:rect r="r" b="b" t="t" l="l"/>
              <a:pathLst>
                <a:path h="826604" w="831680">
                  <a:moveTo>
                    <a:pt x="58763" y="0"/>
                  </a:moveTo>
                  <a:lnTo>
                    <a:pt x="772917" y="0"/>
                  </a:lnTo>
                  <a:cubicBezTo>
                    <a:pt x="788502" y="0"/>
                    <a:pt x="803448" y="6191"/>
                    <a:pt x="814468" y="17211"/>
                  </a:cubicBezTo>
                  <a:cubicBezTo>
                    <a:pt x="825488" y="28231"/>
                    <a:pt x="831680" y="43178"/>
                    <a:pt x="831680" y="58763"/>
                  </a:cubicBezTo>
                  <a:lnTo>
                    <a:pt x="831680" y="767842"/>
                  </a:lnTo>
                  <a:cubicBezTo>
                    <a:pt x="831680" y="800295"/>
                    <a:pt x="805371" y="826604"/>
                    <a:pt x="772917" y="826604"/>
                  </a:cubicBezTo>
                  <a:lnTo>
                    <a:pt x="58763" y="826604"/>
                  </a:lnTo>
                  <a:cubicBezTo>
                    <a:pt x="26309" y="826604"/>
                    <a:pt x="0" y="800295"/>
                    <a:pt x="0" y="767842"/>
                  </a:cubicBezTo>
                  <a:lnTo>
                    <a:pt x="0" y="58763"/>
                  </a:lnTo>
                  <a:cubicBezTo>
                    <a:pt x="0" y="26309"/>
                    <a:pt x="26309" y="0"/>
                    <a:pt x="58763" y="0"/>
                  </a:cubicBezTo>
                  <a:close/>
                </a:path>
              </a:pathLst>
            </a:custGeom>
            <a:solidFill>
              <a:srgbClr val="DEDD91"/>
            </a:solidFill>
            <a:ln cap="rnd">
              <a:noFill/>
              <a:prstDash val="solid"/>
              <a:round/>
            </a:ln>
          </p:spPr>
        </p:sp>
        <p:sp>
          <p:nvSpPr>
            <p:cNvPr name="TextBox 14" id="14"/>
            <p:cNvSpPr txBox="true"/>
            <p:nvPr/>
          </p:nvSpPr>
          <p:spPr>
            <a:xfrm>
              <a:off x="0" y="-38100"/>
              <a:ext cx="831680" cy="864704"/>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255613" y="1993588"/>
            <a:ext cx="5922878" cy="1489144"/>
            <a:chOff x="0" y="0"/>
            <a:chExt cx="812800" cy="204356"/>
          </a:xfrm>
        </p:grpSpPr>
        <p:sp>
          <p:nvSpPr>
            <p:cNvPr name="Freeform 16" id="16"/>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17" id="17"/>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2989175" y="2111558"/>
            <a:ext cx="5922878" cy="1489144"/>
            <a:chOff x="0" y="0"/>
            <a:chExt cx="812800" cy="204356"/>
          </a:xfrm>
        </p:grpSpPr>
        <p:sp>
          <p:nvSpPr>
            <p:cNvPr name="Freeform 19" id="19"/>
            <p:cNvSpPr/>
            <p:nvPr/>
          </p:nvSpPr>
          <p:spPr>
            <a:xfrm flipH="false" flipV="false" rot="0">
              <a:off x="0" y="0"/>
              <a:ext cx="812800" cy="204356"/>
            </a:xfrm>
            <a:custGeom>
              <a:avLst/>
              <a:gdLst/>
              <a:ahLst/>
              <a:cxnLst/>
              <a:rect r="r" b="b" t="t" l="l"/>
              <a:pathLst>
                <a:path h="204356" w="812800">
                  <a:moveTo>
                    <a:pt x="48363" y="0"/>
                  </a:moveTo>
                  <a:lnTo>
                    <a:pt x="764437" y="0"/>
                  </a:lnTo>
                  <a:cubicBezTo>
                    <a:pt x="777263" y="0"/>
                    <a:pt x="789565" y="5095"/>
                    <a:pt x="798635" y="14165"/>
                  </a:cubicBezTo>
                  <a:cubicBezTo>
                    <a:pt x="807705" y="23235"/>
                    <a:pt x="812800" y="35537"/>
                    <a:pt x="812800" y="48363"/>
                  </a:cubicBezTo>
                  <a:lnTo>
                    <a:pt x="812800" y="155993"/>
                  </a:lnTo>
                  <a:cubicBezTo>
                    <a:pt x="812800" y="168819"/>
                    <a:pt x="807705" y="181121"/>
                    <a:pt x="798635" y="190191"/>
                  </a:cubicBezTo>
                  <a:cubicBezTo>
                    <a:pt x="789565" y="199261"/>
                    <a:pt x="777263" y="204356"/>
                    <a:pt x="764437" y="204356"/>
                  </a:cubicBezTo>
                  <a:lnTo>
                    <a:pt x="48363" y="204356"/>
                  </a:lnTo>
                  <a:cubicBezTo>
                    <a:pt x="35537" y="204356"/>
                    <a:pt x="23235" y="199261"/>
                    <a:pt x="14165" y="190191"/>
                  </a:cubicBezTo>
                  <a:cubicBezTo>
                    <a:pt x="5095" y="181121"/>
                    <a:pt x="0" y="168819"/>
                    <a:pt x="0" y="155993"/>
                  </a:cubicBezTo>
                  <a:lnTo>
                    <a:pt x="0" y="48363"/>
                  </a:lnTo>
                  <a:cubicBezTo>
                    <a:pt x="0" y="35537"/>
                    <a:pt x="5095" y="23235"/>
                    <a:pt x="14165" y="14165"/>
                  </a:cubicBezTo>
                  <a:cubicBezTo>
                    <a:pt x="23235" y="5095"/>
                    <a:pt x="35537" y="0"/>
                    <a:pt x="48363" y="0"/>
                  </a:cubicBezTo>
                  <a:close/>
                </a:path>
              </a:pathLst>
            </a:custGeom>
            <a:solidFill>
              <a:srgbClr val="797A1D"/>
            </a:solidFill>
            <a:ln cap="rnd">
              <a:noFill/>
              <a:prstDash val="solid"/>
              <a:round/>
            </a:ln>
          </p:spPr>
        </p:sp>
        <p:sp>
          <p:nvSpPr>
            <p:cNvPr name="TextBox 20" id="20"/>
            <p:cNvSpPr txBox="true"/>
            <p:nvPr/>
          </p:nvSpPr>
          <p:spPr>
            <a:xfrm>
              <a:off x="0" y="-38100"/>
              <a:ext cx="812800" cy="24245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3435306"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4398323" y="9026352"/>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5178491" y="427648"/>
            <a:ext cx="2564259" cy="2464960"/>
          </a:xfrm>
          <a:custGeom>
            <a:avLst/>
            <a:gdLst/>
            <a:ahLst/>
            <a:cxnLst/>
            <a:rect r="r" b="b" t="t" l="l"/>
            <a:pathLst>
              <a:path h="2464960" w="2564259">
                <a:moveTo>
                  <a:pt x="0" y="0"/>
                </a:moveTo>
                <a:lnTo>
                  <a:pt x="2564259" y="0"/>
                </a:lnTo>
                <a:lnTo>
                  <a:pt x="2564259" y="2464960"/>
                </a:lnTo>
                <a:lnTo>
                  <a:pt x="0" y="24649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true" flipV="false" rot="0">
            <a:off x="385265" y="5777746"/>
            <a:ext cx="2264388" cy="4321983"/>
          </a:xfrm>
          <a:custGeom>
            <a:avLst/>
            <a:gdLst/>
            <a:ahLst/>
            <a:cxnLst/>
            <a:rect r="r" b="b" t="t" l="l"/>
            <a:pathLst>
              <a:path h="4321983" w="2264388">
                <a:moveTo>
                  <a:pt x="2264388" y="0"/>
                </a:moveTo>
                <a:lnTo>
                  <a:pt x="0" y="0"/>
                </a:lnTo>
                <a:lnTo>
                  <a:pt x="0" y="4321983"/>
                </a:lnTo>
                <a:lnTo>
                  <a:pt x="2264388" y="4321983"/>
                </a:lnTo>
                <a:lnTo>
                  <a:pt x="226438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3667254" y="48396"/>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Background</a:t>
            </a:r>
          </a:p>
        </p:txBody>
      </p:sp>
      <p:sp>
        <p:nvSpPr>
          <p:cNvPr name="TextBox 26" id="26"/>
          <p:cNvSpPr txBox="true"/>
          <p:nvPr/>
        </p:nvSpPr>
        <p:spPr>
          <a:xfrm rot="0">
            <a:off x="9597179" y="3843554"/>
            <a:ext cx="5527851" cy="5467421"/>
          </a:xfrm>
          <a:prstGeom prst="rect">
            <a:avLst/>
          </a:prstGeom>
        </p:spPr>
        <p:txBody>
          <a:bodyPr anchor="t" rtlCol="false" tIns="0" lIns="0" bIns="0" rIns="0">
            <a:spAutoFit/>
          </a:bodyPr>
          <a:lstStyle/>
          <a:p>
            <a:pPr algn="ctr">
              <a:lnSpc>
                <a:spcPts val="3916"/>
              </a:lnSpc>
            </a:pPr>
            <a:r>
              <a:rPr lang="en-US" sz="2797">
                <a:solidFill>
                  <a:srgbClr val="797A1D"/>
                </a:solidFill>
                <a:latin typeface="Cagliostro"/>
              </a:rPr>
              <a:t>OpenAI augments your system's intelligence by providing advanced natural language processing capabilities. It enables accurate extraction of data from personal certificates, enhances data enrichment, and ensures adaptability to diverse document formats, thereby optimizing the efficiency and accuracy of your insurance processing workflow.</a:t>
            </a:r>
          </a:p>
        </p:txBody>
      </p:sp>
      <p:sp>
        <p:nvSpPr>
          <p:cNvPr name="TextBox 27" id="27"/>
          <p:cNvSpPr txBox="true"/>
          <p:nvPr/>
        </p:nvSpPr>
        <p:spPr>
          <a:xfrm rot="0">
            <a:off x="3329541" y="2177850"/>
            <a:ext cx="4906155" cy="1072995"/>
          </a:xfrm>
          <a:prstGeom prst="rect">
            <a:avLst/>
          </a:prstGeom>
        </p:spPr>
        <p:txBody>
          <a:bodyPr anchor="t" rtlCol="false" tIns="0" lIns="0" bIns="0" rIns="0">
            <a:spAutoFit/>
          </a:bodyPr>
          <a:lstStyle/>
          <a:p>
            <a:pPr algn="ctr">
              <a:lnSpc>
                <a:spcPts val="4383"/>
              </a:lnSpc>
            </a:pPr>
            <a:r>
              <a:rPr lang="en-US" sz="3131">
                <a:solidFill>
                  <a:srgbClr val="FFFFF1"/>
                </a:solidFill>
                <a:latin typeface="Cagliostro"/>
              </a:rPr>
              <a:t>UIPATH ORCHESTRATOR</a:t>
            </a:r>
          </a:p>
        </p:txBody>
      </p:sp>
      <p:sp>
        <p:nvSpPr>
          <p:cNvPr name="TextBox 28" id="28"/>
          <p:cNvSpPr txBox="true"/>
          <p:nvPr/>
        </p:nvSpPr>
        <p:spPr>
          <a:xfrm rot="0">
            <a:off x="9144000" y="2181318"/>
            <a:ext cx="5922878" cy="679450"/>
          </a:xfrm>
          <a:prstGeom prst="rect">
            <a:avLst/>
          </a:prstGeom>
        </p:spPr>
        <p:txBody>
          <a:bodyPr anchor="t" rtlCol="false" tIns="0" lIns="0" bIns="0" rIns="0">
            <a:spAutoFit/>
          </a:bodyPr>
          <a:lstStyle/>
          <a:p>
            <a:pPr algn="ctr">
              <a:lnSpc>
                <a:spcPts val="5599"/>
              </a:lnSpc>
            </a:pPr>
            <a:r>
              <a:rPr lang="en-US" sz="3999">
                <a:solidFill>
                  <a:srgbClr val="FFFFF1"/>
                </a:solidFill>
                <a:latin typeface="Cagliostro"/>
              </a:rPr>
              <a:t>OPENAI</a:t>
            </a:r>
          </a:p>
        </p:txBody>
      </p:sp>
      <p:sp>
        <p:nvSpPr>
          <p:cNvPr name="TextBox 29" id="29"/>
          <p:cNvSpPr txBox="true"/>
          <p:nvPr/>
        </p:nvSpPr>
        <p:spPr>
          <a:xfrm rot="0">
            <a:off x="3435306" y="3648327"/>
            <a:ext cx="5163184" cy="5857875"/>
          </a:xfrm>
          <a:prstGeom prst="rect">
            <a:avLst/>
          </a:prstGeom>
        </p:spPr>
        <p:txBody>
          <a:bodyPr anchor="t" rtlCol="false" tIns="0" lIns="0" bIns="0" rIns="0">
            <a:spAutoFit/>
          </a:bodyPr>
          <a:lstStyle/>
          <a:p>
            <a:pPr algn="ctr">
              <a:lnSpc>
                <a:spcPts val="4200"/>
              </a:lnSpc>
            </a:pPr>
            <a:r>
              <a:rPr lang="en-US" sz="3000">
                <a:solidFill>
                  <a:srgbClr val="797A1D"/>
                </a:solidFill>
                <a:latin typeface="Cagliostro"/>
              </a:rPr>
              <a:t> UiPath Orchestrator serves as the backbone of your automation framework, orchestrating the seamless execution of tasks across your insurance processing system. It offers centralized control, scheduling, and monitoring capabilities, ensuring efficient management of automated workflows.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41457" y="1203406"/>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481330">
            <a:off x="15427309" y="694509"/>
            <a:ext cx="4518875" cy="4114800"/>
          </a:xfrm>
          <a:custGeom>
            <a:avLst/>
            <a:gdLst/>
            <a:ahLst/>
            <a:cxnLst/>
            <a:rect r="r" b="b" t="t" l="l"/>
            <a:pathLst>
              <a:path h="4114800" w="4518875">
                <a:moveTo>
                  <a:pt x="4518875" y="0"/>
                </a:moveTo>
                <a:lnTo>
                  <a:pt x="0" y="0"/>
                </a:lnTo>
                <a:lnTo>
                  <a:pt x="0" y="4114800"/>
                </a:lnTo>
                <a:lnTo>
                  <a:pt x="4518875" y="4114800"/>
                </a:lnTo>
                <a:lnTo>
                  <a:pt x="451887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481330">
            <a:off x="-1230737" y="7658209"/>
            <a:ext cx="4518875" cy="4114800"/>
          </a:xfrm>
          <a:custGeom>
            <a:avLst/>
            <a:gdLst/>
            <a:ahLst/>
            <a:cxnLst/>
            <a:rect r="r" b="b" t="t" l="l"/>
            <a:pathLst>
              <a:path h="4114800" w="4518875">
                <a:moveTo>
                  <a:pt x="0" y="0"/>
                </a:moveTo>
                <a:lnTo>
                  <a:pt x="4518874" y="0"/>
                </a:lnTo>
                <a:lnTo>
                  <a:pt x="451887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3899202" y="1610041"/>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ACTIVITIES USED</a:t>
            </a:r>
          </a:p>
        </p:txBody>
      </p:sp>
      <p:sp>
        <p:nvSpPr>
          <p:cNvPr name="TextBox 12" id="12"/>
          <p:cNvSpPr txBox="true"/>
          <p:nvPr/>
        </p:nvSpPr>
        <p:spPr>
          <a:xfrm rot="0">
            <a:off x="1028700" y="2787965"/>
            <a:ext cx="6838839" cy="5687993"/>
          </a:xfrm>
          <a:prstGeom prst="rect">
            <a:avLst/>
          </a:prstGeom>
        </p:spPr>
        <p:txBody>
          <a:bodyPr anchor="t" rtlCol="false" tIns="0" lIns="0" bIns="0" rIns="0">
            <a:spAutoFit/>
          </a:bodyPr>
          <a:lstStyle/>
          <a:p>
            <a:pPr>
              <a:lnSpc>
                <a:spcPts val="5688"/>
              </a:lnSpc>
            </a:pPr>
          </a:p>
          <a:p>
            <a:pPr marL="877261" indent="-438631" lvl="1">
              <a:lnSpc>
                <a:spcPts val="5688"/>
              </a:lnSpc>
              <a:buFont typeface="Arial"/>
              <a:buChar char="•"/>
            </a:pPr>
            <a:r>
              <a:rPr lang="en-US" sz="4063">
                <a:solidFill>
                  <a:srgbClr val="797A1D"/>
                </a:solidFill>
                <a:latin typeface="Canva Sans Bold"/>
              </a:rPr>
              <a:t>Data Extraction</a:t>
            </a:r>
          </a:p>
          <a:p>
            <a:pPr marL="877261" indent="-438631" lvl="1">
              <a:lnSpc>
                <a:spcPts val="5688"/>
              </a:lnSpc>
              <a:buFont typeface="Arial"/>
              <a:buChar char="•"/>
            </a:pPr>
            <a:r>
              <a:rPr lang="en-US" sz="4063">
                <a:solidFill>
                  <a:srgbClr val="797A1D"/>
                </a:solidFill>
                <a:latin typeface="Canva Sans Bold"/>
              </a:rPr>
              <a:t>Excel Automation</a:t>
            </a:r>
          </a:p>
          <a:p>
            <a:pPr marL="877261" indent="-438631" lvl="1">
              <a:lnSpc>
                <a:spcPts val="5688"/>
              </a:lnSpc>
              <a:buFont typeface="Arial"/>
              <a:buChar char="•"/>
            </a:pPr>
            <a:r>
              <a:rPr lang="en-US" sz="4063">
                <a:solidFill>
                  <a:srgbClr val="797A1D"/>
                </a:solidFill>
                <a:latin typeface="Canva Sans Bold"/>
              </a:rPr>
              <a:t>Form Filling</a:t>
            </a:r>
          </a:p>
          <a:p>
            <a:pPr marL="877261" indent="-438631" lvl="1">
              <a:lnSpc>
                <a:spcPts val="5688"/>
              </a:lnSpc>
              <a:buFont typeface="Arial"/>
              <a:buChar char="•"/>
            </a:pPr>
            <a:r>
              <a:rPr lang="en-US" sz="4063">
                <a:solidFill>
                  <a:srgbClr val="797A1D"/>
                </a:solidFill>
                <a:latin typeface="Canva Sans Bold"/>
              </a:rPr>
              <a:t>Email Automation</a:t>
            </a:r>
          </a:p>
          <a:p>
            <a:pPr marL="877261" indent="-438631" lvl="1">
              <a:lnSpc>
                <a:spcPts val="5688"/>
              </a:lnSpc>
              <a:buFont typeface="Arial"/>
              <a:buChar char="•"/>
            </a:pPr>
            <a:r>
              <a:rPr lang="en-US" sz="4063">
                <a:solidFill>
                  <a:srgbClr val="797A1D"/>
                </a:solidFill>
                <a:latin typeface="Canva Sans Bold"/>
              </a:rPr>
              <a:t>Message Automation</a:t>
            </a:r>
          </a:p>
          <a:p>
            <a:pPr marL="877261" indent="-438631" lvl="1">
              <a:lnSpc>
                <a:spcPts val="5688"/>
              </a:lnSpc>
              <a:buFont typeface="Arial"/>
              <a:buChar char="•"/>
            </a:pPr>
            <a:r>
              <a:rPr lang="en-US" sz="4063">
                <a:solidFill>
                  <a:srgbClr val="797A1D"/>
                </a:solidFill>
                <a:latin typeface="Canva Sans Bold"/>
              </a:rPr>
              <a:t>Phone Call Automation</a:t>
            </a:r>
          </a:p>
          <a:p>
            <a:pPr>
              <a:lnSpc>
                <a:spcPts val="5688"/>
              </a:lnSpc>
            </a:pPr>
          </a:p>
        </p:txBody>
      </p:sp>
      <p:sp>
        <p:nvSpPr>
          <p:cNvPr name="TextBox 13" id="13"/>
          <p:cNvSpPr txBox="true"/>
          <p:nvPr/>
        </p:nvSpPr>
        <p:spPr>
          <a:xfrm rot="0">
            <a:off x="7867539" y="3581966"/>
            <a:ext cx="9092786" cy="5079894"/>
          </a:xfrm>
          <a:prstGeom prst="rect">
            <a:avLst/>
          </a:prstGeom>
        </p:spPr>
        <p:txBody>
          <a:bodyPr anchor="t" rtlCol="false" tIns="0" lIns="0" bIns="0" rIns="0">
            <a:spAutoFit/>
          </a:bodyPr>
          <a:lstStyle/>
          <a:p>
            <a:pPr marL="783541" indent="-391770" lvl="1">
              <a:lnSpc>
                <a:spcPts val="5080"/>
              </a:lnSpc>
              <a:buFont typeface="Arial"/>
              <a:buChar char="•"/>
            </a:pPr>
            <a:r>
              <a:rPr lang="en-US" sz="3629">
                <a:solidFill>
                  <a:srgbClr val="797A1D"/>
                </a:solidFill>
                <a:latin typeface="Canva Sans Bold"/>
              </a:rPr>
              <a:t>UiPath.Excel.Activities</a:t>
            </a:r>
          </a:p>
          <a:p>
            <a:pPr marL="783541" indent="-391770" lvl="1">
              <a:lnSpc>
                <a:spcPts val="5080"/>
              </a:lnSpc>
              <a:buFont typeface="Arial"/>
              <a:buChar char="•"/>
            </a:pPr>
            <a:r>
              <a:rPr lang="en-US" sz="3629">
                <a:solidFill>
                  <a:srgbClr val="797A1D"/>
                </a:solidFill>
                <a:latin typeface="Canva Sans Bold"/>
              </a:rPr>
              <a:t>UiPath.Mail.Activities</a:t>
            </a:r>
          </a:p>
          <a:p>
            <a:pPr marL="783541" indent="-391770" lvl="1">
              <a:lnSpc>
                <a:spcPts val="5080"/>
              </a:lnSpc>
              <a:buFont typeface="Arial"/>
              <a:buChar char="•"/>
            </a:pPr>
            <a:r>
              <a:rPr lang="en-US" sz="3629">
                <a:solidFill>
                  <a:srgbClr val="797A1D"/>
                </a:solidFill>
                <a:latin typeface="Canva Sans Bold"/>
              </a:rPr>
              <a:t>UiPath.UIAutomation.Activities</a:t>
            </a:r>
          </a:p>
          <a:p>
            <a:pPr marL="783541" indent="-391770" lvl="1">
              <a:lnSpc>
                <a:spcPts val="5080"/>
              </a:lnSpc>
              <a:buFont typeface="Arial"/>
              <a:buChar char="•"/>
            </a:pPr>
            <a:r>
              <a:rPr lang="en-US" sz="3629">
                <a:solidFill>
                  <a:srgbClr val="797A1D"/>
                </a:solidFill>
                <a:latin typeface="Canva Sans Bold"/>
              </a:rPr>
              <a:t>UiPath.System.Activities</a:t>
            </a:r>
          </a:p>
          <a:p>
            <a:pPr marL="783541" indent="-391770" lvl="1">
              <a:lnSpc>
                <a:spcPts val="5080"/>
              </a:lnSpc>
              <a:buFont typeface="Arial"/>
              <a:buChar char="•"/>
            </a:pPr>
            <a:r>
              <a:rPr lang="en-US" sz="3629">
                <a:solidFill>
                  <a:srgbClr val="797A1D"/>
                </a:solidFill>
                <a:latin typeface="Canva Sans Bold"/>
              </a:rPr>
              <a:t>UiPath.Form.Activities (if applicable)</a:t>
            </a:r>
          </a:p>
          <a:p>
            <a:pPr marL="783541" indent="-391770" lvl="1">
              <a:lnSpc>
                <a:spcPts val="5080"/>
              </a:lnSpc>
              <a:buFont typeface="Arial"/>
              <a:buChar char="•"/>
            </a:pPr>
            <a:r>
              <a:rPr lang="en-US" sz="3629">
                <a:solidFill>
                  <a:srgbClr val="797A1D"/>
                </a:solidFill>
                <a:latin typeface="Canva Sans Bold"/>
              </a:rPr>
              <a:t>UiPath.Orchestrator.Client (if integrated with Orchestrator)</a:t>
            </a:r>
          </a:p>
          <a:p>
            <a:pPr>
              <a:lnSpc>
                <a:spcPts val="508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431156" y="382588"/>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INPUT</a:t>
            </a:r>
          </a:p>
        </p:txBody>
      </p:sp>
      <p:grpSp>
        <p:nvGrpSpPr>
          <p:cNvPr name="Group 5" id="5"/>
          <p:cNvGrpSpPr/>
          <p:nvPr/>
        </p:nvGrpSpPr>
        <p:grpSpPr>
          <a:xfrm rot="0">
            <a:off x="3056077" y="196800"/>
            <a:ext cx="11605086" cy="1956063"/>
            <a:chOff x="0" y="0"/>
            <a:chExt cx="3056484" cy="515177"/>
          </a:xfrm>
        </p:grpSpPr>
        <p:sp>
          <p:nvSpPr>
            <p:cNvPr name="Freeform 6" id="6"/>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7" id="7"/>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507693">
            <a:off x="-93660" y="7083960"/>
            <a:ext cx="1763524" cy="3657582"/>
          </a:xfrm>
          <a:custGeom>
            <a:avLst/>
            <a:gdLst/>
            <a:ahLst/>
            <a:cxnLst/>
            <a:rect r="r" b="b" t="t" l="l"/>
            <a:pathLst>
              <a:path h="3657582" w="1763524">
                <a:moveTo>
                  <a:pt x="0" y="0"/>
                </a:moveTo>
                <a:lnTo>
                  <a:pt x="1763524" y="0"/>
                </a:lnTo>
                <a:lnTo>
                  <a:pt x="1763524" y="3657582"/>
                </a:lnTo>
                <a:lnTo>
                  <a:pt x="0" y="36575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1610125">
            <a:off x="16715378" y="324072"/>
            <a:ext cx="1763524" cy="3657582"/>
          </a:xfrm>
          <a:custGeom>
            <a:avLst/>
            <a:gdLst/>
            <a:ahLst/>
            <a:cxnLst/>
            <a:rect r="r" b="b" t="t" l="l"/>
            <a:pathLst>
              <a:path h="3657582" w="1763524">
                <a:moveTo>
                  <a:pt x="1763525" y="0"/>
                </a:moveTo>
                <a:lnTo>
                  <a:pt x="0" y="0"/>
                </a:lnTo>
                <a:lnTo>
                  <a:pt x="0" y="3657581"/>
                </a:lnTo>
                <a:lnTo>
                  <a:pt x="1763525" y="3657581"/>
                </a:lnTo>
                <a:lnTo>
                  <a:pt x="176352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3531" y="2885692"/>
            <a:ext cx="8615089" cy="6191003"/>
          </a:xfrm>
          <a:custGeom>
            <a:avLst/>
            <a:gdLst/>
            <a:ahLst/>
            <a:cxnLst/>
            <a:rect r="r" b="b" t="t" l="l"/>
            <a:pathLst>
              <a:path h="6191003" w="8615089">
                <a:moveTo>
                  <a:pt x="0" y="0"/>
                </a:moveTo>
                <a:lnTo>
                  <a:pt x="8615089" y="0"/>
                </a:lnTo>
                <a:lnTo>
                  <a:pt x="8615089" y="6191002"/>
                </a:lnTo>
                <a:lnTo>
                  <a:pt x="0" y="6191002"/>
                </a:lnTo>
                <a:lnTo>
                  <a:pt x="0" y="0"/>
                </a:lnTo>
                <a:close/>
              </a:path>
            </a:pathLst>
          </a:custGeom>
          <a:blipFill>
            <a:blip r:embed="rId8"/>
            <a:stretch>
              <a:fillRect l="-7923" t="0" r="-48680" b="-2933"/>
            </a:stretch>
          </a:blipFill>
        </p:spPr>
      </p:sp>
      <p:sp>
        <p:nvSpPr>
          <p:cNvPr name="Freeform 13" id="13"/>
          <p:cNvSpPr/>
          <p:nvPr/>
        </p:nvSpPr>
        <p:spPr>
          <a:xfrm flipH="false" flipV="false" rot="0">
            <a:off x="9306970" y="2425832"/>
            <a:ext cx="8765754" cy="7110723"/>
          </a:xfrm>
          <a:custGeom>
            <a:avLst/>
            <a:gdLst/>
            <a:ahLst/>
            <a:cxnLst/>
            <a:rect r="r" b="b" t="t" l="l"/>
            <a:pathLst>
              <a:path h="7110723" w="8765754">
                <a:moveTo>
                  <a:pt x="0" y="0"/>
                </a:moveTo>
                <a:lnTo>
                  <a:pt x="8765753" y="0"/>
                </a:lnTo>
                <a:lnTo>
                  <a:pt x="8765753" y="7110723"/>
                </a:lnTo>
                <a:lnTo>
                  <a:pt x="0" y="7110723"/>
                </a:lnTo>
                <a:lnTo>
                  <a:pt x="0" y="0"/>
                </a:lnTo>
                <a:close/>
              </a:path>
            </a:pathLst>
          </a:custGeom>
          <a:blipFill>
            <a:blip r:embed="rId9"/>
            <a:stretch>
              <a:fillRect l="-7399"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900166" y="200279"/>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OUTPUT</a:t>
            </a:r>
          </a:p>
        </p:txBody>
      </p:sp>
      <p:grpSp>
        <p:nvGrpSpPr>
          <p:cNvPr name="Group 5" id="5"/>
          <p:cNvGrpSpPr/>
          <p:nvPr/>
        </p:nvGrpSpPr>
        <p:grpSpPr>
          <a:xfrm rot="0">
            <a:off x="5214434" y="-11150"/>
            <a:ext cx="8373183" cy="1411318"/>
            <a:chOff x="0" y="0"/>
            <a:chExt cx="3056484" cy="515177"/>
          </a:xfrm>
        </p:grpSpPr>
        <p:sp>
          <p:nvSpPr>
            <p:cNvPr name="Freeform 6" id="6"/>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7" id="7"/>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507693">
            <a:off x="-93660" y="7083960"/>
            <a:ext cx="1763524" cy="3657582"/>
          </a:xfrm>
          <a:custGeom>
            <a:avLst/>
            <a:gdLst/>
            <a:ahLst/>
            <a:cxnLst/>
            <a:rect r="r" b="b" t="t" l="l"/>
            <a:pathLst>
              <a:path h="3657582" w="1763524">
                <a:moveTo>
                  <a:pt x="0" y="0"/>
                </a:moveTo>
                <a:lnTo>
                  <a:pt x="1763524" y="0"/>
                </a:lnTo>
                <a:lnTo>
                  <a:pt x="1763524" y="3657582"/>
                </a:lnTo>
                <a:lnTo>
                  <a:pt x="0" y="36575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false" rot="-1610125">
            <a:off x="16715378" y="324072"/>
            <a:ext cx="1763524" cy="3657582"/>
          </a:xfrm>
          <a:custGeom>
            <a:avLst/>
            <a:gdLst/>
            <a:ahLst/>
            <a:cxnLst/>
            <a:rect r="r" b="b" t="t" l="l"/>
            <a:pathLst>
              <a:path h="3657582" w="1763524">
                <a:moveTo>
                  <a:pt x="1763525" y="0"/>
                </a:moveTo>
                <a:lnTo>
                  <a:pt x="0" y="0"/>
                </a:lnTo>
                <a:lnTo>
                  <a:pt x="0" y="3657581"/>
                </a:lnTo>
                <a:lnTo>
                  <a:pt x="1763525" y="3657581"/>
                </a:lnTo>
                <a:lnTo>
                  <a:pt x="176352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55662" y="1400168"/>
            <a:ext cx="11584096" cy="4568295"/>
          </a:xfrm>
          <a:custGeom>
            <a:avLst/>
            <a:gdLst/>
            <a:ahLst/>
            <a:cxnLst/>
            <a:rect r="r" b="b" t="t" l="l"/>
            <a:pathLst>
              <a:path h="4568295" w="11584096">
                <a:moveTo>
                  <a:pt x="0" y="0"/>
                </a:moveTo>
                <a:lnTo>
                  <a:pt x="11584096" y="0"/>
                </a:lnTo>
                <a:lnTo>
                  <a:pt x="11584096" y="4568295"/>
                </a:lnTo>
                <a:lnTo>
                  <a:pt x="0" y="4568295"/>
                </a:lnTo>
                <a:lnTo>
                  <a:pt x="0" y="0"/>
                </a:lnTo>
                <a:close/>
              </a:path>
            </a:pathLst>
          </a:custGeom>
          <a:blipFill>
            <a:blip r:embed="rId8"/>
            <a:stretch>
              <a:fillRect l="0" t="-48298" r="0" b="-80480"/>
            </a:stretch>
          </a:blipFill>
        </p:spPr>
      </p:sp>
      <p:sp>
        <p:nvSpPr>
          <p:cNvPr name="Freeform 13" id="13"/>
          <p:cNvSpPr/>
          <p:nvPr/>
        </p:nvSpPr>
        <p:spPr>
          <a:xfrm flipH="false" flipV="false" rot="0">
            <a:off x="12153628" y="1579429"/>
            <a:ext cx="5936442" cy="3570994"/>
          </a:xfrm>
          <a:custGeom>
            <a:avLst/>
            <a:gdLst/>
            <a:ahLst/>
            <a:cxnLst/>
            <a:rect r="r" b="b" t="t" l="l"/>
            <a:pathLst>
              <a:path h="3570994" w="5936442">
                <a:moveTo>
                  <a:pt x="0" y="0"/>
                </a:moveTo>
                <a:lnTo>
                  <a:pt x="5936442" y="0"/>
                </a:lnTo>
                <a:lnTo>
                  <a:pt x="5936442" y="3570994"/>
                </a:lnTo>
                <a:lnTo>
                  <a:pt x="0" y="3570994"/>
                </a:lnTo>
                <a:lnTo>
                  <a:pt x="0" y="0"/>
                </a:lnTo>
                <a:close/>
              </a:path>
            </a:pathLst>
          </a:custGeom>
          <a:blipFill>
            <a:blip r:embed="rId9"/>
            <a:stretch>
              <a:fillRect l="-33944" t="0" r="-365" b="0"/>
            </a:stretch>
          </a:blipFill>
        </p:spPr>
      </p:sp>
      <p:sp>
        <p:nvSpPr>
          <p:cNvPr name="Freeform 14" id="14"/>
          <p:cNvSpPr/>
          <p:nvPr/>
        </p:nvSpPr>
        <p:spPr>
          <a:xfrm flipH="false" flipV="false" rot="0">
            <a:off x="12153628" y="5549553"/>
            <a:ext cx="5833955" cy="4737447"/>
          </a:xfrm>
          <a:custGeom>
            <a:avLst/>
            <a:gdLst/>
            <a:ahLst/>
            <a:cxnLst/>
            <a:rect r="r" b="b" t="t" l="l"/>
            <a:pathLst>
              <a:path h="4737447" w="5833955">
                <a:moveTo>
                  <a:pt x="0" y="0"/>
                </a:moveTo>
                <a:lnTo>
                  <a:pt x="5833955" y="0"/>
                </a:lnTo>
                <a:lnTo>
                  <a:pt x="5833955" y="4737447"/>
                </a:lnTo>
                <a:lnTo>
                  <a:pt x="0" y="4737447"/>
                </a:lnTo>
                <a:lnTo>
                  <a:pt x="0" y="0"/>
                </a:lnTo>
                <a:close/>
              </a:path>
            </a:pathLst>
          </a:custGeom>
          <a:blipFill>
            <a:blip r:embed="rId10"/>
            <a:stretch>
              <a:fillRect l="-7565" t="0" r="-7565" b="0"/>
            </a:stretch>
          </a:blipFill>
        </p:spPr>
      </p:sp>
      <p:sp>
        <p:nvSpPr>
          <p:cNvPr name="Freeform 15" id="15"/>
          <p:cNvSpPr/>
          <p:nvPr/>
        </p:nvSpPr>
        <p:spPr>
          <a:xfrm flipH="false" flipV="false" rot="0">
            <a:off x="0" y="5968463"/>
            <a:ext cx="11584096" cy="5237490"/>
          </a:xfrm>
          <a:custGeom>
            <a:avLst/>
            <a:gdLst/>
            <a:ahLst/>
            <a:cxnLst/>
            <a:rect r="r" b="b" t="t" l="l"/>
            <a:pathLst>
              <a:path h="5237490" w="11584096">
                <a:moveTo>
                  <a:pt x="0" y="0"/>
                </a:moveTo>
                <a:lnTo>
                  <a:pt x="11584096" y="0"/>
                </a:lnTo>
                <a:lnTo>
                  <a:pt x="11584096" y="5237490"/>
                </a:lnTo>
                <a:lnTo>
                  <a:pt x="0" y="5237490"/>
                </a:lnTo>
                <a:lnTo>
                  <a:pt x="0" y="0"/>
                </a:lnTo>
                <a:close/>
              </a:path>
            </a:pathLst>
          </a:custGeom>
          <a:blipFill>
            <a:blip r:embed="rId11"/>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341457" y="189706"/>
            <a:ext cx="11605086" cy="1956063"/>
            <a:chOff x="0" y="0"/>
            <a:chExt cx="3056484" cy="515177"/>
          </a:xfrm>
        </p:grpSpPr>
        <p:sp>
          <p:nvSpPr>
            <p:cNvPr name="Freeform 5" id="5"/>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6" id="6"/>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4115782" y="831525"/>
            <a:ext cx="10435143" cy="753288"/>
          </a:xfrm>
          <a:prstGeom prst="rect">
            <a:avLst/>
          </a:prstGeom>
        </p:spPr>
        <p:txBody>
          <a:bodyPr anchor="t" rtlCol="false" tIns="0" lIns="0" bIns="0" rIns="0">
            <a:spAutoFit/>
          </a:bodyPr>
          <a:lstStyle/>
          <a:p>
            <a:pPr algn="ctr">
              <a:lnSpc>
                <a:spcPts val="5959"/>
              </a:lnSpc>
            </a:pPr>
            <a:r>
              <a:rPr lang="en-US" sz="4767" spc="138">
                <a:solidFill>
                  <a:srgbClr val="797A1D"/>
                </a:solidFill>
                <a:latin typeface="Cinzel Decorative Bold"/>
              </a:rPr>
              <a:t>EXECUTION VIDEO</a:t>
            </a:r>
          </a:p>
        </p:txBody>
      </p:sp>
      <p:sp>
        <p:nvSpPr>
          <p:cNvPr name="TextBox 10" id="10"/>
          <p:cNvSpPr txBox="true"/>
          <p:nvPr/>
        </p:nvSpPr>
        <p:spPr>
          <a:xfrm rot="0">
            <a:off x="651368" y="2767719"/>
            <a:ext cx="17363969" cy="1127739"/>
          </a:xfrm>
          <a:prstGeom prst="rect">
            <a:avLst/>
          </a:prstGeom>
        </p:spPr>
        <p:txBody>
          <a:bodyPr anchor="t" rtlCol="false" tIns="0" lIns="0" bIns="0" rIns="0">
            <a:spAutoFit/>
          </a:bodyPr>
          <a:lstStyle/>
          <a:p>
            <a:pPr algn="ctr">
              <a:lnSpc>
                <a:spcPts val="4516"/>
              </a:lnSpc>
            </a:pPr>
            <a:r>
              <a:rPr lang="en-US" sz="3225" u="sng">
                <a:solidFill>
                  <a:srgbClr val="797A1D"/>
                </a:solidFill>
                <a:latin typeface="Canva Sans Bold"/>
                <a:hlinkClick r:id="rId6" tooltip="https://drive.google.com/file/d/1fBs9SPZQWg8WOVuFBAr_FHC1T_-qykbI/view?usp=sharing"/>
              </a:rPr>
              <a:t>https://drive.google.com/file/d/1fBs9SPZQWg8WOVuFBAr_FHC1T_-qykbI/view?usp=sharing</a:t>
            </a:r>
          </a:p>
        </p:txBody>
      </p:sp>
      <p:sp>
        <p:nvSpPr>
          <p:cNvPr name="TextBox 11" id="11"/>
          <p:cNvSpPr txBox="true"/>
          <p:nvPr/>
        </p:nvSpPr>
        <p:spPr>
          <a:xfrm rot="0">
            <a:off x="272662" y="4581258"/>
            <a:ext cx="18015338" cy="1145198"/>
          </a:xfrm>
          <a:prstGeom prst="rect">
            <a:avLst/>
          </a:prstGeom>
        </p:spPr>
        <p:txBody>
          <a:bodyPr anchor="t" rtlCol="false" tIns="0" lIns="0" bIns="0" rIns="0">
            <a:spAutoFit/>
          </a:bodyPr>
          <a:lstStyle/>
          <a:p>
            <a:pPr algn="ctr">
              <a:lnSpc>
                <a:spcPts val="4603"/>
              </a:lnSpc>
            </a:pPr>
            <a:r>
              <a:rPr lang="en-US" sz="3288" u="sng">
                <a:solidFill>
                  <a:srgbClr val="797A1D"/>
                </a:solidFill>
                <a:latin typeface="Canva Sans Bold"/>
                <a:hlinkClick r:id="rId7" tooltip="https://drive.google.com/file/d/1t5t_1RJ5sWXpBY9PfJta7Lf_Sdaunedq/view?usp=sharing"/>
              </a:rPr>
              <a:t>https://drive.google.com/file/d/1t5t_1RJ5sWXpBY9PfJta7Lf_Sdaunedq/view?usp=sharing</a:t>
            </a:r>
          </a:p>
        </p:txBody>
      </p:sp>
      <p:sp>
        <p:nvSpPr>
          <p:cNvPr name="TextBox 12" id="12"/>
          <p:cNvSpPr txBox="true"/>
          <p:nvPr/>
        </p:nvSpPr>
        <p:spPr>
          <a:xfrm rot="0">
            <a:off x="195443" y="6378551"/>
            <a:ext cx="18288000" cy="522444"/>
          </a:xfrm>
          <a:prstGeom prst="rect">
            <a:avLst/>
          </a:prstGeom>
        </p:spPr>
        <p:txBody>
          <a:bodyPr anchor="t" rtlCol="false" tIns="0" lIns="0" bIns="0" rIns="0">
            <a:spAutoFit/>
          </a:bodyPr>
          <a:lstStyle/>
          <a:p>
            <a:pPr algn="ctr">
              <a:lnSpc>
                <a:spcPts val="4278"/>
              </a:lnSpc>
            </a:pPr>
            <a:r>
              <a:rPr lang="en-US" sz="3056" u="sng">
                <a:solidFill>
                  <a:srgbClr val="797A1D"/>
                </a:solidFill>
                <a:latin typeface="Canva Sans Bold"/>
                <a:hlinkClick r:id="rId8" tooltip="https://drive.google.com/file/d/1lj4PXTZ5DlPyIe17s--LyaX2L8NSl7jG/view?usp=sharing"/>
              </a:rPr>
              <a:t>https://drive.google.com/file/d/1lj4PXTZ5DlPyIe17s--LyaX2L8NSl7jG/view?usp=sharing</a:t>
            </a:r>
          </a:p>
        </p:txBody>
      </p:sp>
      <p:sp>
        <p:nvSpPr>
          <p:cNvPr name="TextBox 13" id="13"/>
          <p:cNvSpPr txBox="true"/>
          <p:nvPr/>
        </p:nvSpPr>
        <p:spPr>
          <a:xfrm rot="0">
            <a:off x="1028700" y="7731468"/>
            <a:ext cx="15652019" cy="1126759"/>
          </a:xfrm>
          <a:prstGeom prst="rect">
            <a:avLst/>
          </a:prstGeom>
        </p:spPr>
        <p:txBody>
          <a:bodyPr anchor="t" rtlCol="false" tIns="0" lIns="0" bIns="0" rIns="0">
            <a:spAutoFit/>
          </a:bodyPr>
          <a:lstStyle/>
          <a:p>
            <a:pPr algn="ctr">
              <a:lnSpc>
                <a:spcPts val="4570"/>
              </a:lnSpc>
            </a:pPr>
            <a:r>
              <a:rPr lang="en-US" sz="3264" u="sng">
                <a:solidFill>
                  <a:srgbClr val="797A1D"/>
                </a:solidFill>
                <a:latin typeface="Canva Sans Bold"/>
                <a:hlinkClick r:id="rId9" tooltip="https://drive.google.com/file/d/1kRIGSVXQFN1AqLqsN2q0FKVbUfGuejpV/view?usp=sharing"/>
              </a:rPr>
              <a:t>https://drive.google.com/file/d/1kRIGSVXQFN1AqLqsN2q0FKVbUfGuejpV/view?usp=sharing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341457" y="3929171"/>
            <a:ext cx="11994241" cy="4791075"/>
          </a:xfrm>
          <a:prstGeom prst="rect">
            <a:avLst/>
          </a:prstGeom>
        </p:spPr>
        <p:txBody>
          <a:bodyPr anchor="t" rtlCol="false" tIns="0" lIns="0" bIns="0" rIns="0">
            <a:spAutoFit/>
          </a:bodyPr>
          <a:lstStyle/>
          <a:p>
            <a:pPr algn="ctr">
              <a:lnSpc>
                <a:spcPts val="4200"/>
              </a:lnSpc>
            </a:pPr>
            <a:r>
              <a:rPr lang="en-US" sz="3000">
                <a:solidFill>
                  <a:srgbClr val="C4791C"/>
                </a:solidFill>
                <a:latin typeface="Cagliostro"/>
              </a:rPr>
              <a:t>In conclusion, the Smart Insurance Processing project leverages UiPath and OpenAI to automate the insurance process seamlessly. By extracting data from personal certificates and populating insurance forms, it streamlines administrative tasks efficiently. The integration of AI enables users to inquire about their insurance status through various communication modes, enhancing accessibility and customer satisfaction. This innovative solution not only reduces manual effort but also improves response time and communication effectiveness, marking a significant advancement in insurance processing technology.</a:t>
            </a:r>
          </a:p>
        </p:txBody>
      </p:sp>
      <p:sp>
        <p:nvSpPr>
          <p:cNvPr name="Freeform 5" id="5"/>
          <p:cNvSpPr/>
          <p:nvPr/>
        </p:nvSpPr>
        <p:spPr>
          <a:xfrm flipH="false" flipV="false" rot="0">
            <a:off x="159783" y="7446162"/>
            <a:ext cx="2675553" cy="2840838"/>
          </a:xfrm>
          <a:custGeom>
            <a:avLst/>
            <a:gdLst/>
            <a:ahLst/>
            <a:cxnLst/>
            <a:rect r="r" b="b" t="t" l="l"/>
            <a:pathLst>
              <a:path h="2840838" w="2675553">
                <a:moveTo>
                  <a:pt x="0" y="0"/>
                </a:moveTo>
                <a:lnTo>
                  <a:pt x="2675553" y="0"/>
                </a:lnTo>
                <a:lnTo>
                  <a:pt x="2675553" y="2840838"/>
                </a:lnTo>
                <a:lnTo>
                  <a:pt x="0" y="28408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5737731" y="342449"/>
            <a:ext cx="2675553" cy="2550160"/>
          </a:xfrm>
          <a:custGeom>
            <a:avLst/>
            <a:gdLst/>
            <a:ahLst/>
            <a:cxnLst/>
            <a:rect r="r" b="b" t="t" l="l"/>
            <a:pathLst>
              <a:path h="2550160" w="2675553">
                <a:moveTo>
                  <a:pt x="2675553" y="0"/>
                </a:moveTo>
                <a:lnTo>
                  <a:pt x="0" y="0"/>
                </a:lnTo>
                <a:lnTo>
                  <a:pt x="0" y="2550159"/>
                </a:lnTo>
                <a:lnTo>
                  <a:pt x="2675553" y="2550159"/>
                </a:lnTo>
                <a:lnTo>
                  <a:pt x="2675553" y="0"/>
                </a:lnTo>
                <a:close/>
              </a:path>
            </a:pathLst>
          </a:custGeom>
          <a:blipFill>
            <a:blip r:embed="rId4">
              <a:extLst>
                <a:ext uri="{96DAC541-7B7A-43D3-8B79-37D633B846F1}">
                  <asvg:svgBlip xmlns:asvg="http://schemas.microsoft.com/office/drawing/2016/SVG/main" r:embed="rId5"/>
                </a:ext>
              </a:extLst>
            </a:blip>
            <a:stretch>
              <a:fillRect l="0" t="0" r="0" b="-11398"/>
            </a:stretch>
          </a:blipFill>
        </p:spPr>
      </p:sp>
      <p:sp>
        <p:nvSpPr>
          <p:cNvPr name="Freeform 7" id="7"/>
          <p:cNvSpPr/>
          <p:nvPr/>
        </p:nvSpPr>
        <p:spPr>
          <a:xfrm flipH="false" flipV="false" rot="403289">
            <a:off x="-651107" y="3478613"/>
            <a:ext cx="1678929" cy="3329775"/>
          </a:xfrm>
          <a:custGeom>
            <a:avLst/>
            <a:gdLst/>
            <a:ahLst/>
            <a:cxnLst/>
            <a:rect r="r" b="b" t="t" l="l"/>
            <a:pathLst>
              <a:path h="3329775" w="1678929">
                <a:moveTo>
                  <a:pt x="0" y="0"/>
                </a:moveTo>
                <a:lnTo>
                  <a:pt x="1678930" y="0"/>
                </a:lnTo>
                <a:lnTo>
                  <a:pt x="1678930" y="3329774"/>
                </a:lnTo>
                <a:lnTo>
                  <a:pt x="0" y="33297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94180">
            <a:off x="17224758" y="3478613"/>
            <a:ext cx="1678929" cy="3329775"/>
          </a:xfrm>
          <a:custGeom>
            <a:avLst/>
            <a:gdLst/>
            <a:ahLst/>
            <a:cxnLst/>
            <a:rect r="r" b="b" t="t" l="l"/>
            <a:pathLst>
              <a:path h="3329775" w="1678929">
                <a:moveTo>
                  <a:pt x="1678929" y="0"/>
                </a:moveTo>
                <a:lnTo>
                  <a:pt x="0" y="0"/>
                </a:lnTo>
                <a:lnTo>
                  <a:pt x="0" y="3329774"/>
                </a:lnTo>
                <a:lnTo>
                  <a:pt x="1678929" y="3329774"/>
                </a:lnTo>
                <a:lnTo>
                  <a:pt x="16789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341457" y="1203406"/>
            <a:ext cx="11605086" cy="1956063"/>
            <a:chOff x="0" y="0"/>
            <a:chExt cx="3056484" cy="515177"/>
          </a:xfrm>
        </p:grpSpPr>
        <p:sp>
          <p:nvSpPr>
            <p:cNvPr name="Freeform 10" id="10"/>
            <p:cNvSpPr/>
            <p:nvPr/>
          </p:nvSpPr>
          <p:spPr>
            <a:xfrm flipH="false" flipV="false" rot="0">
              <a:off x="0" y="0"/>
              <a:ext cx="3056484" cy="515177"/>
            </a:xfrm>
            <a:custGeom>
              <a:avLst/>
              <a:gdLst/>
              <a:ahLst/>
              <a:cxnLst/>
              <a:rect r="r" b="b" t="t" l="l"/>
              <a:pathLst>
                <a:path h="515177" w="3056484">
                  <a:moveTo>
                    <a:pt x="2853284" y="0"/>
                  </a:moveTo>
                  <a:cubicBezTo>
                    <a:pt x="2965508" y="0"/>
                    <a:pt x="3056484" y="115326"/>
                    <a:pt x="3056484" y="257588"/>
                  </a:cubicBezTo>
                  <a:cubicBezTo>
                    <a:pt x="3056484" y="399851"/>
                    <a:pt x="2965508" y="515177"/>
                    <a:pt x="2853284" y="515177"/>
                  </a:cubicBezTo>
                  <a:lnTo>
                    <a:pt x="203200" y="515177"/>
                  </a:lnTo>
                  <a:cubicBezTo>
                    <a:pt x="90976" y="515177"/>
                    <a:pt x="0" y="399851"/>
                    <a:pt x="0" y="257588"/>
                  </a:cubicBezTo>
                  <a:cubicBezTo>
                    <a:pt x="0" y="115326"/>
                    <a:pt x="90976" y="0"/>
                    <a:pt x="203200" y="0"/>
                  </a:cubicBezTo>
                  <a:close/>
                </a:path>
              </a:pathLst>
            </a:custGeom>
            <a:solidFill>
              <a:srgbClr val="000000">
                <a:alpha val="0"/>
              </a:srgbClr>
            </a:solidFill>
            <a:ln w="47625" cap="sq">
              <a:solidFill>
                <a:srgbClr val="DEDD91"/>
              </a:solidFill>
              <a:prstDash val="solid"/>
              <a:miter/>
            </a:ln>
          </p:spPr>
        </p:sp>
        <p:sp>
          <p:nvSpPr>
            <p:cNvPr name="TextBox 11" id="11"/>
            <p:cNvSpPr txBox="true"/>
            <p:nvPr/>
          </p:nvSpPr>
          <p:spPr>
            <a:xfrm>
              <a:off x="0" y="-38100"/>
              <a:ext cx="3056484" cy="55327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514113" y="990508"/>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3899202" y="1610041"/>
            <a:ext cx="10489597" cy="1254125"/>
          </a:xfrm>
          <a:prstGeom prst="rect">
            <a:avLst/>
          </a:prstGeom>
        </p:spPr>
        <p:txBody>
          <a:bodyPr anchor="t" rtlCol="false" tIns="0" lIns="0" bIns="0" rIns="0">
            <a:spAutoFit/>
          </a:bodyPr>
          <a:lstStyle/>
          <a:p>
            <a:pPr algn="ctr">
              <a:lnSpc>
                <a:spcPts val="10000"/>
              </a:lnSpc>
            </a:pPr>
            <a:r>
              <a:rPr lang="en-US" sz="8000" spc="232">
                <a:solidFill>
                  <a:srgbClr val="797A1D"/>
                </a:solidFill>
                <a:latin typeface="Cinzel Decorative Bold"/>
              </a:rPr>
              <a:t>CONCLUSION</a:t>
            </a:r>
          </a:p>
        </p:txBody>
      </p:sp>
      <p:sp>
        <p:nvSpPr>
          <p:cNvPr name="Freeform 14" id="14"/>
          <p:cNvSpPr/>
          <p:nvPr/>
        </p:nvSpPr>
        <p:spPr>
          <a:xfrm flipH="false" flipV="false" rot="0">
            <a:off x="13355669" y="2901030"/>
            <a:ext cx="463896" cy="463896"/>
          </a:xfrm>
          <a:custGeom>
            <a:avLst/>
            <a:gdLst/>
            <a:ahLst/>
            <a:cxnLst/>
            <a:rect r="r" b="b" t="t" l="l"/>
            <a:pathLst>
              <a:path h="463896" w="463896">
                <a:moveTo>
                  <a:pt x="0" y="0"/>
                </a:moveTo>
                <a:lnTo>
                  <a:pt x="463896" y="0"/>
                </a:lnTo>
                <a:lnTo>
                  <a:pt x="463896" y="463896"/>
                </a:lnTo>
                <a:lnTo>
                  <a:pt x="0" y="463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1"/>
        </a:solidFill>
      </p:bgPr>
    </p:bg>
    <p:spTree>
      <p:nvGrpSpPr>
        <p:cNvPr id="1" name=""/>
        <p:cNvGrpSpPr/>
        <p:nvPr/>
      </p:nvGrpSpPr>
      <p:grpSpPr>
        <a:xfrm>
          <a:off x="0" y="0"/>
          <a:ext cx="0" cy="0"/>
          <a:chOff x="0" y="0"/>
          <a:chExt cx="0" cy="0"/>
        </a:xfrm>
      </p:grpSpPr>
      <p:sp>
        <p:nvSpPr>
          <p:cNvPr name="Freeform 2" id="2"/>
          <p:cNvSpPr/>
          <p:nvPr/>
        </p:nvSpPr>
        <p:spPr>
          <a:xfrm flipH="true" flipV="false" rot="-748915">
            <a:off x="-825489" y="-553070"/>
            <a:ext cx="2895225" cy="2495157"/>
          </a:xfrm>
          <a:custGeom>
            <a:avLst/>
            <a:gdLst/>
            <a:ahLst/>
            <a:cxnLst/>
            <a:rect r="r" b="b" t="t" l="l"/>
            <a:pathLst>
              <a:path h="2495157" w="2895225">
                <a:moveTo>
                  <a:pt x="2895224" y="0"/>
                </a:moveTo>
                <a:lnTo>
                  <a:pt x="0" y="0"/>
                </a:lnTo>
                <a:lnTo>
                  <a:pt x="0" y="2495157"/>
                </a:lnTo>
                <a:lnTo>
                  <a:pt x="2895224" y="2495157"/>
                </a:lnTo>
                <a:lnTo>
                  <a:pt x="289522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33858" y="-1996974"/>
            <a:ext cx="13620284" cy="13620284"/>
          </a:xfrm>
          <a:custGeom>
            <a:avLst/>
            <a:gdLst/>
            <a:ahLst/>
            <a:cxnLst/>
            <a:rect r="r" b="b" t="t" l="l"/>
            <a:pathLst>
              <a:path h="13620284" w="13620284">
                <a:moveTo>
                  <a:pt x="0" y="0"/>
                </a:moveTo>
                <a:lnTo>
                  <a:pt x="13620284" y="0"/>
                </a:lnTo>
                <a:lnTo>
                  <a:pt x="13620284" y="13620284"/>
                </a:lnTo>
                <a:lnTo>
                  <a:pt x="0" y="13620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517442">
            <a:off x="-120582" y="2075771"/>
            <a:ext cx="2380000" cy="4936162"/>
          </a:xfrm>
          <a:custGeom>
            <a:avLst/>
            <a:gdLst/>
            <a:ahLst/>
            <a:cxnLst/>
            <a:rect r="r" b="b" t="t" l="l"/>
            <a:pathLst>
              <a:path h="4936162" w="2380000">
                <a:moveTo>
                  <a:pt x="0" y="0"/>
                </a:moveTo>
                <a:lnTo>
                  <a:pt x="2379999" y="0"/>
                </a:lnTo>
                <a:lnTo>
                  <a:pt x="2379999" y="4936162"/>
                </a:lnTo>
                <a:lnTo>
                  <a:pt x="0" y="49361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1135818">
            <a:off x="16477957" y="3659792"/>
            <a:ext cx="2404829" cy="4987659"/>
          </a:xfrm>
          <a:custGeom>
            <a:avLst/>
            <a:gdLst/>
            <a:ahLst/>
            <a:cxnLst/>
            <a:rect r="r" b="b" t="t" l="l"/>
            <a:pathLst>
              <a:path h="4987659" w="2404829">
                <a:moveTo>
                  <a:pt x="2404829" y="0"/>
                </a:moveTo>
                <a:lnTo>
                  <a:pt x="0" y="0"/>
                </a:lnTo>
                <a:lnTo>
                  <a:pt x="0" y="4987659"/>
                </a:lnTo>
                <a:lnTo>
                  <a:pt x="2404829" y="4987659"/>
                </a:lnTo>
                <a:lnTo>
                  <a:pt x="24048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020387" y="3347439"/>
            <a:ext cx="10247227" cy="3473450"/>
          </a:xfrm>
          <a:prstGeom prst="rect">
            <a:avLst/>
          </a:prstGeom>
        </p:spPr>
        <p:txBody>
          <a:bodyPr anchor="t" rtlCol="false" tIns="0" lIns="0" bIns="0" rIns="0">
            <a:spAutoFit/>
          </a:bodyPr>
          <a:lstStyle/>
          <a:p>
            <a:pPr algn="ctr">
              <a:lnSpc>
                <a:spcPts val="13750"/>
              </a:lnSpc>
            </a:pPr>
            <a:r>
              <a:rPr lang="en-US" sz="11000" spc="319">
                <a:solidFill>
                  <a:srgbClr val="797A1D"/>
                </a:solidFill>
                <a:latin typeface="Cinzel Decorative Bold"/>
              </a:rPr>
              <a:t>Thank</a:t>
            </a:r>
          </a:p>
          <a:p>
            <a:pPr algn="ctr">
              <a:lnSpc>
                <a:spcPts val="13750"/>
              </a:lnSpc>
            </a:pPr>
            <a:r>
              <a:rPr lang="en-US" sz="11000" spc="319">
                <a:solidFill>
                  <a:srgbClr val="797A1D"/>
                </a:solidFill>
                <a:latin typeface="Cinzel Decorative Bold"/>
              </a:rPr>
              <a:t>You</a:t>
            </a:r>
          </a:p>
        </p:txBody>
      </p:sp>
      <p:sp>
        <p:nvSpPr>
          <p:cNvPr name="AutoShape 7" id="7"/>
          <p:cNvSpPr/>
          <p:nvPr/>
        </p:nvSpPr>
        <p:spPr>
          <a:xfrm flipV="true">
            <a:off x="-4207261" y="7452663"/>
            <a:ext cx="8414522" cy="28575"/>
          </a:xfrm>
          <a:prstGeom prst="line">
            <a:avLst/>
          </a:prstGeom>
          <a:ln cap="rnd" w="28575">
            <a:solidFill>
              <a:srgbClr val="797A1D"/>
            </a:solidFill>
            <a:prstDash val="solid"/>
            <a:headEnd type="none" len="sm" w="sm"/>
            <a:tailEnd type="none" len="sm" w="sm"/>
          </a:ln>
        </p:spPr>
      </p:sp>
      <p:sp>
        <p:nvSpPr>
          <p:cNvPr name="AutoShape 8" id="8"/>
          <p:cNvSpPr/>
          <p:nvPr/>
        </p:nvSpPr>
        <p:spPr>
          <a:xfrm flipV="true">
            <a:off x="13606431" y="2369676"/>
            <a:ext cx="8414522" cy="28575"/>
          </a:xfrm>
          <a:prstGeom prst="line">
            <a:avLst/>
          </a:prstGeom>
          <a:ln cap="rnd" w="28575">
            <a:solidFill>
              <a:srgbClr val="797A1D"/>
            </a:solidFill>
            <a:prstDash val="solid"/>
            <a:headEnd type="none" len="sm" w="sm"/>
            <a:tailEnd type="none" len="sm" w="sm"/>
          </a:ln>
        </p:spPr>
      </p:sp>
      <p:sp>
        <p:nvSpPr>
          <p:cNvPr name="Freeform 9" id="9"/>
          <p:cNvSpPr/>
          <p:nvPr/>
        </p:nvSpPr>
        <p:spPr>
          <a:xfrm flipH="false" flipV="true" rot="5285550">
            <a:off x="1171627" y="8237207"/>
            <a:ext cx="1488728" cy="1407094"/>
          </a:xfrm>
          <a:custGeom>
            <a:avLst/>
            <a:gdLst/>
            <a:ahLst/>
            <a:cxnLst/>
            <a:rect r="r" b="b" t="t" l="l"/>
            <a:pathLst>
              <a:path h="1407094" w="1488728">
                <a:moveTo>
                  <a:pt x="0" y="1407095"/>
                </a:moveTo>
                <a:lnTo>
                  <a:pt x="1488729" y="1407095"/>
                </a:lnTo>
                <a:lnTo>
                  <a:pt x="1488729" y="0"/>
                </a:lnTo>
                <a:lnTo>
                  <a:pt x="0" y="0"/>
                </a:lnTo>
                <a:lnTo>
                  <a:pt x="0" y="140709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5400000">
            <a:off x="15317265" y="729432"/>
            <a:ext cx="1273754" cy="1203908"/>
          </a:xfrm>
          <a:custGeom>
            <a:avLst/>
            <a:gdLst/>
            <a:ahLst/>
            <a:cxnLst/>
            <a:rect r="r" b="b" t="t" l="l"/>
            <a:pathLst>
              <a:path h="1203908" w="1273754">
                <a:moveTo>
                  <a:pt x="0" y="0"/>
                </a:moveTo>
                <a:lnTo>
                  <a:pt x="1273754" y="0"/>
                </a:lnTo>
                <a:lnTo>
                  <a:pt x="1273754" y="1203908"/>
                </a:lnTo>
                <a:lnTo>
                  <a:pt x="0" y="12039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5400000">
            <a:off x="15838881" y="8222139"/>
            <a:ext cx="2840838" cy="2448286"/>
          </a:xfrm>
          <a:custGeom>
            <a:avLst/>
            <a:gdLst/>
            <a:ahLst/>
            <a:cxnLst/>
            <a:rect r="r" b="b" t="t" l="l"/>
            <a:pathLst>
              <a:path h="2448286" w="2840838">
                <a:moveTo>
                  <a:pt x="0" y="0"/>
                </a:moveTo>
                <a:lnTo>
                  <a:pt x="2840838" y="0"/>
                </a:lnTo>
                <a:lnTo>
                  <a:pt x="2840838" y="2448286"/>
                </a:lnTo>
                <a:lnTo>
                  <a:pt x="0" y="2448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DAF-OuQENGE</dc:identifier>
  <dcterms:modified xsi:type="dcterms:W3CDTF">2011-08-01T06:04:30Z</dcterms:modified>
  <cp:revision>1</cp:revision>
  <dc:title>SMART INSURANCE PROCESSING</dc:title>
</cp:coreProperties>
</file>